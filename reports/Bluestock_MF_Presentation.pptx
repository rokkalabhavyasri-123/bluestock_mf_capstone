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7" r:id="rId2"/>
    <p:sldId id="266" r:id="rId3"/>
    <p:sldId id="272" r:id="rId4"/>
    <p:sldId id="273" r:id="rId5"/>
    <p:sldId id="282" r:id="rId6"/>
    <p:sldId id="286" r:id="rId7"/>
    <p:sldId id="293" r:id="rId8"/>
    <p:sldId id="301" r:id="rId9"/>
    <p:sldId id="302" r:id="rId10"/>
    <p:sldId id="303" r:id="rId11"/>
    <p:sldId id="300" r:id="rId12"/>
    <p:sldId id="30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810" autoAdjust="0"/>
  </p:normalViewPr>
  <p:slideViewPr>
    <p:cSldViewPr snapToGrid="0" showGuides="1">
      <p:cViewPr>
        <p:scale>
          <a:sx n="75" d="100"/>
          <a:sy n="75" d="100"/>
        </p:scale>
        <p:origin x="274" y="21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24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187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AC74A-664E-43D3-859E-B35855730D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10C658-31F9-4A67-8267-E3463B262A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AD794A-17F4-48F7-A14F-39DCAE091952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7BBBF1-3A7A-4F4B-8592-578ABE65B7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2F046-B531-4374-9A89-AC21BCA06E1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2DFAA7-D3C3-4D01-9299-453E25D16D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527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4C6A87-CC60-415C-BFEE-13D1CAD6861A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C51814-3B91-4036-94D2-3977634EE2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625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448175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 userDrawn="1"/>
        </p:nvSpPr>
        <p:spPr>
          <a:xfrm>
            <a:off x="0" y="4448175"/>
            <a:ext cx="12192000" cy="240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5" y="4551363"/>
            <a:ext cx="11520488" cy="1176337"/>
          </a:xfrm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5" y="5830888"/>
            <a:ext cx="11520488" cy="5508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810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508BC1-7ABB-42C8-B268-3C6F4FD455DE}"/>
              </a:ext>
            </a:extLst>
          </p:cNvPr>
          <p:cNvSpPr/>
          <p:nvPr userDrawn="1"/>
        </p:nvSpPr>
        <p:spPr>
          <a:xfrm>
            <a:off x="200025" y="-1"/>
            <a:ext cx="119919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1500" y="0"/>
            <a:ext cx="6034088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 userDrawn="1"/>
        </p:nvSpPr>
        <p:spPr>
          <a:xfrm>
            <a:off x="0" y="1"/>
            <a:ext cx="37147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5625" y="1512889"/>
            <a:ext cx="4986338" cy="3262311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5625" y="4927600"/>
            <a:ext cx="4986338" cy="97631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085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6610" y="1779589"/>
            <a:ext cx="5318781" cy="2182811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36610" y="4079083"/>
            <a:ext cx="5318781" cy="976311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044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A59197-7C21-44E6-8A97-DE0ABD1E6909}"/>
              </a:ext>
            </a:extLst>
          </p:cNvPr>
          <p:cNvSpPr/>
          <p:nvPr userDrawn="1"/>
        </p:nvSpPr>
        <p:spPr>
          <a:xfrm>
            <a:off x="0" y="0"/>
            <a:ext cx="64135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16500" y="472281"/>
            <a:ext cx="7175500" cy="591343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6" y="1779589"/>
            <a:ext cx="4416424" cy="2182811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6" y="4079083"/>
            <a:ext cx="4416424" cy="97631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626B81-8882-4179-8C3A-BEA9BBEF2A62}"/>
              </a:ext>
            </a:extLst>
          </p:cNvPr>
          <p:cNvSpPr/>
          <p:nvPr userDrawn="1"/>
        </p:nvSpPr>
        <p:spPr>
          <a:xfrm>
            <a:off x="5021263" y="368300"/>
            <a:ext cx="3159760" cy="1166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836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17DDCC-4521-4225-8F36-D4B39128409A}"/>
              </a:ext>
            </a:extLst>
          </p:cNvPr>
          <p:cNvSpPr/>
          <p:nvPr userDrawn="1"/>
        </p:nvSpPr>
        <p:spPr>
          <a:xfrm>
            <a:off x="8991600" y="3965574"/>
            <a:ext cx="3200400" cy="289242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6570C8-2343-4B74-AF97-DC7CE5D92865}"/>
              </a:ext>
            </a:extLst>
          </p:cNvPr>
          <p:cNvSpPr/>
          <p:nvPr userDrawn="1"/>
        </p:nvSpPr>
        <p:spPr>
          <a:xfrm>
            <a:off x="0" y="0"/>
            <a:ext cx="3200400" cy="289242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371476" y="278606"/>
            <a:ext cx="11520487" cy="3150394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B27536-7968-45BB-9FA8-DF1A47A47827}"/>
              </a:ext>
            </a:extLst>
          </p:cNvPr>
          <p:cNvSpPr/>
          <p:nvPr userDrawn="1"/>
        </p:nvSpPr>
        <p:spPr>
          <a:xfrm>
            <a:off x="371476" y="3429000"/>
            <a:ext cx="11520487" cy="2771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10507" y="3886201"/>
            <a:ext cx="9242424" cy="1104900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10507" y="5130801"/>
            <a:ext cx="9242424" cy="53340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379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79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9C071DB-1B6B-4FC3-A099-12F35734D22D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768407-2D97-4F4F-8CB8-4D3668680B64}"/>
              </a:ext>
            </a:extLst>
          </p:cNvPr>
          <p:cNvSpPr/>
          <p:nvPr userDrawn="1"/>
        </p:nvSpPr>
        <p:spPr>
          <a:xfrm>
            <a:off x="371475" y="1460501"/>
            <a:ext cx="5724525" cy="47402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600" y="260351"/>
            <a:ext cx="9702800" cy="973137"/>
          </a:xfrm>
        </p:spPr>
        <p:txBody>
          <a:bodyPr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638299"/>
            <a:ext cx="5346700" cy="438150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D4AFEBD-46AA-4A09-AD19-CDD123811A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1460501"/>
            <a:ext cx="5795963" cy="474027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171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260351"/>
            <a:ext cx="5495926" cy="213836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2603500"/>
            <a:ext cx="5495926" cy="35734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08C777B1-9A90-4B1E-A6AE-9339286077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91224" y="637283"/>
            <a:ext cx="2692800" cy="278254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Add Image Here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0FEA994A-8056-4F3D-9365-B6A362A93EE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98424" y="3430043"/>
            <a:ext cx="2692800" cy="277232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Add Image Here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29E334-587D-4420-9285-C2A5F494582B}"/>
              </a:ext>
            </a:extLst>
          </p:cNvPr>
          <p:cNvSpPr/>
          <p:nvPr userDrawn="1"/>
        </p:nvSpPr>
        <p:spPr>
          <a:xfrm>
            <a:off x="9289522" y="3527226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BD4601-EF26-4D7C-8CB6-95488F17575B}"/>
              </a:ext>
            </a:extLst>
          </p:cNvPr>
          <p:cNvSpPr/>
          <p:nvPr userDrawn="1"/>
        </p:nvSpPr>
        <p:spPr>
          <a:xfrm>
            <a:off x="8621786" y="2848323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949C41-2679-4E9D-A28C-F0C979F5702B}"/>
              </a:ext>
            </a:extLst>
          </p:cNvPr>
          <p:cNvSpPr/>
          <p:nvPr userDrawn="1"/>
        </p:nvSpPr>
        <p:spPr>
          <a:xfrm>
            <a:off x="8870898" y="2508125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54B05D-55FD-4118-B899-4095FF50870D}"/>
              </a:ext>
            </a:extLst>
          </p:cNvPr>
          <p:cNvSpPr/>
          <p:nvPr userDrawn="1"/>
        </p:nvSpPr>
        <p:spPr>
          <a:xfrm>
            <a:off x="0" y="933450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40533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1016000"/>
            <a:ext cx="3997324" cy="2501899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3619500"/>
            <a:ext cx="3997325" cy="25574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02201" y="619125"/>
            <a:ext cx="3454400" cy="5581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6">
            <a:extLst>
              <a:ext uri="{FF2B5EF4-FFF2-40B4-BE49-F238E27FC236}">
                <a16:creationId xmlns:a16="http://schemas.microsoft.com/office/drawing/2014/main" id="{F6824EBC-CC6E-4D5A-B85A-DAC55ACE853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32801" y="260351"/>
            <a:ext cx="3454400" cy="558164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661888-890D-4E0C-8076-65EDFDB7DE27}"/>
              </a:ext>
            </a:extLst>
          </p:cNvPr>
          <p:cNvSpPr/>
          <p:nvPr userDrawn="1"/>
        </p:nvSpPr>
        <p:spPr>
          <a:xfrm>
            <a:off x="8432801" y="5842000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E48EF9-5BAF-4BD7-A6BE-866C0307B69F}"/>
              </a:ext>
            </a:extLst>
          </p:cNvPr>
          <p:cNvSpPr/>
          <p:nvPr userDrawn="1"/>
        </p:nvSpPr>
        <p:spPr>
          <a:xfrm>
            <a:off x="4902201" y="239509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D4A5F4-99AC-4FB3-8A59-AB8D7B4FC7D7}"/>
              </a:ext>
            </a:extLst>
          </p:cNvPr>
          <p:cNvSpPr/>
          <p:nvPr userDrawn="1"/>
        </p:nvSpPr>
        <p:spPr>
          <a:xfrm>
            <a:off x="0" y="1384300"/>
            <a:ext cx="177800" cy="4457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13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76250"/>
            <a:ext cx="5165724" cy="2557463"/>
          </a:xfrm>
        </p:spPr>
        <p:txBody>
          <a:bodyPr anchor="ctr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76250"/>
            <a:ext cx="5795963" cy="25574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3233941"/>
            <a:ext cx="11520486" cy="2966833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476250"/>
            <a:ext cx="165100" cy="25574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79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0"/>
            <a:ext cx="513805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9197" y="1296176"/>
            <a:ext cx="5272764" cy="1551573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9198" y="3073967"/>
            <a:ext cx="5272764" cy="25574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17601" y="1016000"/>
            <a:ext cx="5138058" cy="4978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06EB3B-6A54-45E7-B23D-F9515CC15D12}"/>
              </a:ext>
            </a:extLst>
          </p:cNvPr>
          <p:cNvSpPr/>
          <p:nvPr userDrawn="1"/>
        </p:nvSpPr>
        <p:spPr>
          <a:xfrm>
            <a:off x="0" y="5994400"/>
            <a:ext cx="4093029" cy="86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110354-15BA-4B22-B7CF-3D5BFA5C722D}"/>
              </a:ext>
            </a:extLst>
          </p:cNvPr>
          <p:cNvSpPr/>
          <p:nvPr userDrawn="1"/>
        </p:nvSpPr>
        <p:spPr>
          <a:xfrm>
            <a:off x="2162630" y="873210"/>
            <a:ext cx="4093029" cy="1385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357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783831"/>
            <a:ext cx="3111954" cy="3290338"/>
          </a:xfrm>
        </p:spPr>
        <p:txBody>
          <a:bodyPr anchor="ctr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9370" y="1783832"/>
            <a:ext cx="4402592" cy="3290338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72114" y="0"/>
            <a:ext cx="3628571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16C293-C1E0-4EA5-BDE5-D226D72FC08B}"/>
              </a:ext>
            </a:extLst>
          </p:cNvPr>
          <p:cNvSpPr/>
          <p:nvPr userDrawn="1"/>
        </p:nvSpPr>
        <p:spPr>
          <a:xfrm>
            <a:off x="371475" y="5297714"/>
            <a:ext cx="3111954" cy="156028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770C08-8FFF-4293-8E7D-DBFEE4E3E443}"/>
              </a:ext>
            </a:extLst>
          </p:cNvPr>
          <p:cNvSpPr/>
          <p:nvPr userDrawn="1"/>
        </p:nvSpPr>
        <p:spPr>
          <a:xfrm>
            <a:off x="7489370" y="0"/>
            <a:ext cx="4402593" cy="156028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620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 userDrawn="1"/>
        </p:nvSpPr>
        <p:spPr>
          <a:xfrm>
            <a:off x="0" y="1389743"/>
            <a:ext cx="12192000" cy="40785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331584"/>
            <a:ext cx="10515600" cy="1500187"/>
          </a:xfrm>
        </p:spPr>
        <p:txBody>
          <a:bodyPr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2E6F7-3BE5-4484-A73E-3EFDB7348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968071"/>
            <a:ext cx="10515600" cy="805542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9AEFA0-9379-4E32-9D66-976465036916}"/>
              </a:ext>
            </a:extLst>
          </p:cNvPr>
          <p:cNvSpPr/>
          <p:nvPr userDrawn="1"/>
        </p:nvSpPr>
        <p:spPr>
          <a:xfrm>
            <a:off x="371475" y="580571"/>
            <a:ext cx="1573439" cy="15001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FB43B-30D9-4055-B912-4E3C85B03657}"/>
              </a:ext>
            </a:extLst>
          </p:cNvPr>
          <p:cNvSpPr/>
          <p:nvPr userDrawn="1"/>
        </p:nvSpPr>
        <p:spPr>
          <a:xfrm>
            <a:off x="7097486" y="5105274"/>
            <a:ext cx="4794477" cy="7259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814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 userDrawn="1"/>
        </p:nvSpPr>
        <p:spPr>
          <a:xfrm>
            <a:off x="0" y="0"/>
            <a:ext cx="6096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391EAACA-1322-4E60-917E-C7408F539D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260350"/>
            <a:ext cx="11520488" cy="600982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750" y="3957831"/>
            <a:ext cx="9620250" cy="1500187"/>
          </a:xfrm>
        </p:spPr>
        <p:txBody>
          <a:bodyPr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3296215-27AE-462B-9127-E1C932633896}"/>
              </a:ext>
            </a:extLst>
          </p:cNvPr>
          <p:cNvSpPr/>
          <p:nvPr userDrawn="1"/>
        </p:nvSpPr>
        <p:spPr>
          <a:xfrm>
            <a:off x="1093471" y="3843394"/>
            <a:ext cx="1722120" cy="1729060"/>
          </a:xfrm>
          <a:custGeom>
            <a:avLst/>
            <a:gdLst>
              <a:gd name="connsiteX0" fmla="*/ 0 w 2730500"/>
              <a:gd name="connsiteY0" fmla="*/ 0 h 2730500"/>
              <a:gd name="connsiteX1" fmla="*/ 2730500 w 2730500"/>
              <a:gd name="connsiteY1" fmla="*/ 0 h 2730500"/>
              <a:gd name="connsiteX2" fmla="*/ 2730500 w 2730500"/>
              <a:gd name="connsiteY2" fmla="*/ 672834 h 2730500"/>
              <a:gd name="connsiteX3" fmla="*/ 2606675 w 2730500"/>
              <a:gd name="connsiteY3" fmla="*/ 672834 h 2730500"/>
              <a:gd name="connsiteX4" fmla="*/ 2606675 w 2730500"/>
              <a:gd name="connsiteY4" fmla="*/ 116870 h 2730500"/>
              <a:gd name="connsiteX5" fmla="*/ 123826 w 2730500"/>
              <a:gd name="connsiteY5" fmla="*/ 116870 h 2730500"/>
              <a:gd name="connsiteX6" fmla="*/ 123826 w 2730500"/>
              <a:gd name="connsiteY6" fmla="*/ 2613630 h 2730500"/>
              <a:gd name="connsiteX7" fmla="*/ 2606675 w 2730500"/>
              <a:gd name="connsiteY7" fmla="*/ 2613630 h 2730500"/>
              <a:gd name="connsiteX8" fmla="*/ 2606675 w 2730500"/>
              <a:gd name="connsiteY8" fmla="*/ 2066205 h 2730500"/>
              <a:gd name="connsiteX9" fmla="*/ 2730500 w 2730500"/>
              <a:gd name="connsiteY9" fmla="*/ 2066205 h 2730500"/>
              <a:gd name="connsiteX10" fmla="*/ 2730500 w 2730500"/>
              <a:gd name="connsiteY10" fmla="*/ 2730500 h 2730500"/>
              <a:gd name="connsiteX11" fmla="*/ 0 w 2730500"/>
              <a:gd name="connsiteY11" fmla="*/ 2730500 h 273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30500" h="2730500">
                <a:moveTo>
                  <a:pt x="0" y="0"/>
                </a:moveTo>
                <a:lnTo>
                  <a:pt x="2730500" y="0"/>
                </a:lnTo>
                <a:lnTo>
                  <a:pt x="2730500" y="672834"/>
                </a:lnTo>
                <a:lnTo>
                  <a:pt x="2606675" y="672834"/>
                </a:lnTo>
                <a:lnTo>
                  <a:pt x="2606675" y="116870"/>
                </a:lnTo>
                <a:lnTo>
                  <a:pt x="123826" y="116870"/>
                </a:lnTo>
                <a:lnTo>
                  <a:pt x="123826" y="2613630"/>
                </a:lnTo>
                <a:lnTo>
                  <a:pt x="2606675" y="2613630"/>
                </a:lnTo>
                <a:lnTo>
                  <a:pt x="2606675" y="2066205"/>
                </a:lnTo>
                <a:lnTo>
                  <a:pt x="2730500" y="2066205"/>
                </a:lnTo>
                <a:lnTo>
                  <a:pt x="2730500" y="2730500"/>
                </a:lnTo>
                <a:lnTo>
                  <a:pt x="0" y="27305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7479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2DB7CFEB-6952-4BC3-B9E0-0C382490F9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0675" y="260350"/>
            <a:ext cx="6499502" cy="5940425"/>
          </a:xfrm>
          <a:custGeom>
            <a:avLst/>
            <a:gdLst>
              <a:gd name="connsiteX0" fmla="*/ 4432576 w 6499502"/>
              <a:gd name="connsiteY0" fmla="*/ 4057650 h 5940425"/>
              <a:gd name="connsiteX1" fmla="*/ 6499502 w 6499502"/>
              <a:gd name="connsiteY1" fmla="*/ 4057650 h 5940425"/>
              <a:gd name="connsiteX2" fmla="*/ 6499502 w 6499502"/>
              <a:gd name="connsiteY2" fmla="*/ 5940425 h 5940425"/>
              <a:gd name="connsiteX3" fmla="*/ 4432576 w 6499502"/>
              <a:gd name="connsiteY3" fmla="*/ 5940425 h 5940425"/>
              <a:gd name="connsiteX4" fmla="*/ 2216288 w 6499502"/>
              <a:gd name="connsiteY4" fmla="*/ 4057650 h 5940425"/>
              <a:gd name="connsiteX5" fmla="*/ 4283214 w 6499502"/>
              <a:gd name="connsiteY5" fmla="*/ 4057650 h 5940425"/>
              <a:gd name="connsiteX6" fmla="*/ 4283214 w 6499502"/>
              <a:gd name="connsiteY6" fmla="*/ 5940425 h 5940425"/>
              <a:gd name="connsiteX7" fmla="*/ 2216288 w 6499502"/>
              <a:gd name="connsiteY7" fmla="*/ 5940425 h 5940425"/>
              <a:gd name="connsiteX8" fmla="*/ 0 w 6499502"/>
              <a:gd name="connsiteY8" fmla="*/ 4057650 h 5940425"/>
              <a:gd name="connsiteX9" fmla="*/ 2066926 w 6499502"/>
              <a:gd name="connsiteY9" fmla="*/ 4057650 h 5940425"/>
              <a:gd name="connsiteX10" fmla="*/ 2066926 w 6499502"/>
              <a:gd name="connsiteY10" fmla="*/ 5940425 h 5940425"/>
              <a:gd name="connsiteX11" fmla="*/ 0 w 6499502"/>
              <a:gd name="connsiteY11" fmla="*/ 5940425 h 5940425"/>
              <a:gd name="connsiteX12" fmla="*/ 4432576 w 6499502"/>
              <a:gd name="connsiteY12" fmla="*/ 2028825 h 5940425"/>
              <a:gd name="connsiteX13" fmla="*/ 6499502 w 6499502"/>
              <a:gd name="connsiteY13" fmla="*/ 2028825 h 5940425"/>
              <a:gd name="connsiteX14" fmla="*/ 6499502 w 6499502"/>
              <a:gd name="connsiteY14" fmla="*/ 3911600 h 5940425"/>
              <a:gd name="connsiteX15" fmla="*/ 4432576 w 6499502"/>
              <a:gd name="connsiteY15" fmla="*/ 3911600 h 5940425"/>
              <a:gd name="connsiteX16" fmla="*/ 2216288 w 6499502"/>
              <a:gd name="connsiteY16" fmla="*/ 2028825 h 5940425"/>
              <a:gd name="connsiteX17" fmla="*/ 4283214 w 6499502"/>
              <a:gd name="connsiteY17" fmla="*/ 2028825 h 5940425"/>
              <a:gd name="connsiteX18" fmla="*/ 4283214 w 6499502"/>
              <a:gd name="connsiteY18" fmla="*/ 3911600 h 5940425"/>
              <a:gd name="connsiteX19" fmla="*/ 2216288 w 6499502"/>
              <a:gd name="connsiteY19" fmla="*/ 3911600 h 5940425"/>
              <a:gd name="connsiteX20" fmla="*/ 0 w 6499502"/>
              <a:gd name="connsiteY20" fmla="*/ 2028825 h 5940425"/>
              <a:gd name="connsiteX21" fmla="*/ 2066926 w 6499502"/>
              <a:gd name="connsiteY21" fmla="*/ 2028825 h 5940425"/>
              <a:gd name="connsiteX22" fmla="*/ 2066926 w 6499502"/>
              <a:gd name="connsiteY22" fmla="*/ 3911600 h 5940425"/>
              <a:gd name="connsiteX23" fmla="*/ 0 w 6499502"/>
              <a:gd name="connsiteY23" fmla="*/ 3911600 h 5940425"/>
              <a:gd name="connsiteX24" fmla="*/ 4432576 w 6499502"/>
              <a:gd name="connsiteY24" fmla="*/ 0 h 5940425"/>
              <a:gd name="connsiteX25" fmla="*/ 6499502 w 6499502"/>
              <a:gd name="connsiteY25" fmla="*/ 0 h 5940425"/>
              <a:gd name="connsiteX26" fmla="*/ 6499502 w 6499502"/>
              <a:gd name="connsiteY26" fmla="*/ 1882775 h 5940425"/>
              <a:gd name="connsiteX27" fmla="*/ 4432576 w 6499502"/>
              <a:gd name="connsiteY27" fmla="*/ 1882775 h 5940425"/>
              <a:gd name="connsiteX28" fmla="*/ 2216288 w 6499502"/>
              <a:gd name="connsiteY28" fmla="*/ 0 h 5940425"/>
              <a:gd name="connsiteX29" fmla="*/ 4283214 w 6499502"/>
              <a:gd name="connsiteY29" fmla="*/ 0 h 5940425"/>
              <a:gd name="connsiteX30" fmla="*/ 4283214 w 6499502"/>
              <a:gd name="connsiteY30" fmla="*/ 1882775 h 5940425"/>
              <a:gd name="connsiteX31" fmla="*/ 2216288 w 6499502"/>
              <a:gd name="connsiteY31" fmla="*/ 1882775 h 5940425"/>
              <a:gd name="connsiteX32" fmla="*/ 0 w 6499502"/>
              <a:gd name="connsiteY32" fmla="*/ 0 h 5940425"/>
              <a:gd name="connsiteX33" fmla="*/ 2066926 w 6499502"/>
              <a:gd name="connsiteY33" fmla="*/ 0 h 5940425"/>
              <a:gd name="connsiteX34" fmla="*/ 2066926 w 6499502"/>
              <a:gd name="connsiteY34" fmla="*/ 1882775 h 5940425"/>
              <a:gd name="connsiteX35" fmla="*/ 0 w 6499502"/>
              <a:gd name="connsiteY35" fmla="*/ 1882775 h 5940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499502" h="5940425">
                <a:moveTo>
                  <a:pt x="4432576" y="4057650"/>
                </a:moveTo>
                <a:lnTo>
                  <a:pt x="6499502" y="4057650"/>
                </a:lnTo>
                <a:lnTo>
                  <a:pt x="6499502" y="5940425"/>
                </a:lnTo>
                <a:lnTo>
                  <a:pt x="4432576" y="5940425"/>
                </a:lnTo>
                <a:close/>
                <a:moveTo>
                  <a:pt x="2216288" y="4057650"/>
                </a:moveTo>
                <a:lnTo>
                  <a:pt x="4283214" y="4057650"/>
                </a:lnTo>
                <a:lnTo>
                  <a:pt x="4283214" y="5940425"/>
                </a:lnTo>
                <a:lnTo>
                  <a:pt x="2216288" y="5940425"/>
                </a:lnTo>
                <a:close/>
                <a:moveTo>
                  <a:pt x="0" y="4057650"/>
                </a:moveTo>
                <a:lnTo>
                  <a:pt x="2066926" y="4057650"/>
                </a:lnTo>
                <a:lnTo>
                  <a:pt x="2066926" y="5940425"/>
                </a:lnTo>
                <a:lnTo>
                  <a:pt x="0" y="5940425"/>
                </a:lnTo>
                <a:close/>
                <a:moveTo>
                  <a:pt x="4432576" y="2028825"/>
                </a:moveTo>
                <a:lnTo>
                  <a:pt x="6499502" y="2028825"/>
                </a:lnTo>
                <a:lnTo>
                  <a:pt x="6499502" y="3911600"/>
                </a:lnTo>
                <a:lnTo>
                  <a:pt x="4432576" y="3911600"/>
                </a:lnTo>
                <a:close/>
                <a:moveTo>
                  <a:pt x="2216288" y="2028825"/>
                </a:moveTo>
                <a:lnTo>
                  <a:pt x="4283214" y="2028825"/>
                </a:lnTo>
                <a:lnTo>
                  <a:pt x="4283214" y="3911600"/>
                </a:lnTo>
                <a:lnTo>
                  <a:pt x="2216288" y="3911600"/>
                </a:lnTo>
                <a:close/>
                <a:moveTo>
                  <a:pt x="0" y="2028825"/>
                </a:moveTo>
                <a:lnTo>
                  <a:pt x="2066926" y="2028825"/>
                </a:lnTo>
                <a:lnTo>
                  <a:pt x="2066926" y="3911600"/>
                </a:lnTo>
                <a:lnTo>
                  <a:pt x="0" y="3911600"/>
                </a:lnTo>
                <a:close/>
                <a:moveTo>
                  <a:pt x="4432576" y="0"/>
                </a:moveTo>
                <a:lnTo>
                  <a:pt x="6499502" y="0"/>
                </a:lnTo>
                <a:lnTo>
                  <a:pt x="6499502" y="1882775"/>
                </a:lnTo>
                <a:lnTo>
                  <a:pt x="4432576" y="1882775"/>
                </a:lnTo>
                <a:close/>
                <a:moveTo>
                  <a:pt x="2216288" y="0"/>
                </a:moveTo>
                <a:lnTo>
                  <a:pt x="4283214" y="0"/>
                </a:lnTo>
                <a:lnTo>
                  <a:pt x="4283214" y="1882775"/>
                </a:lnTo>
                <a:lnTo>
                  <a:pt x="2216288" y="1882775"/>
                </a:lnTo>
                <a:close/>
                <a:moveTo>
                  <a:pt x="0" y="0"/>
                </a:moveTo>
                <a:lnTo>
                  <a:pt x="2066926" y="0"/>
                </a:lnTo>
                <a:lnTo>
                  <a:pt x="2066926" y="1882775"/>
                </a:lnTo>
                <a:lnTo>
                  <a:pt x="0" y="188277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596928"/>
            <a:ext cx="4810125" cy="3267268"/>
          </a:xfrm>
        </p:spPr>
        <p:txBody>
          <a:bodyPr anchor="ctr"/>
          <a:lstStyle>
            <a:lvl1pPr>
              <a:defRPr sz="6000"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3933498" y="4952673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B43515-5C7A-4125-B76D-8A24D2BBE5EC}"/>
              </a:ext>
            </a:extLst>
          </p:cNvPr>
          <p:cNvSpPr/>
          <p:nvPr userDrawn="1"/>
        </p:nvSpPr>
        <p:spPr>
          <a:xfrm>
            <a:off x="371475" y="1011911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9A713B-4176-4C86-9E87-4ADBD6F444FB}"/>
              </a:ext>
            </a:extLst>
          </p:cNvPr>
          <p:cNvSpPr/>
          <p:nvPr userDrawn="1"/>
        </p:nvSpPr>
        <p:spPr>
          <a:xfrm>
            <a:off x="620587" y="671713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622333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917949"/>
            <a:ext cx="6915150" cy="2268337"/>
          </a:xfrm>
        </p:spPr>
        <p:txBody>
          <a:bodyPr anchor="ctr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5222179" y="2327274"/>
            <a:ext cx="2176462" cy="15112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FA0623C-0B34-4074-8AA0-6428A5AF07A3}"/>
              </a:ext>
            </a:extLst>
          </p:cNvPr>
          <p:cNvSpPr/>
          <p:nvPr userDrawn="1"/>
        </p:nvSpPr>
        <p:spPr>
          <a:xfrm>
            <a:off x="7468839" y="3917949"/>
            <a:ext cx="2176462" cy="228282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B5D335A5-A601-4D8A-AEF5-F34792FF565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71474" y="260351"/>
            <a:ext cx="11520489" cy="5940424"/>
          </a:xfrm>
          <a:custGeom>
            <a:avLst/>
            <a:gdLst>
              <a:gd name="connsiteX0" fmla="*/ 9344026 w 11520489"/>
              <a:gd name="connsiteY0" fmla="*/ 3657598 h 5940424"/>
              <a:gd name="connsiteX1" fmla="*/ 11520489 w 11520489"/>
              <a:gd name="connsiteY1" fmla="*/ 3657598 h 5940424"/>
              <a:gd name="connsiteX2" fmla="*/ 11520489 w 11520489"/>
              <a:gd name="connsiteY2" fmla="*/ 5940424 h 5940424"/>
              <a:gd name="connsiteX3" fmla="*/ 9344026 w 11520489"/>
              <a:gd name="connsiteY3" fmla="*/ 5940424 h 5940424"/>
              <a:gd name="connsiteX4" fmla="*/ 9344026 w 11520489"/>
              <a:gd name="connsiteY4" fmla="*/ 2066924 h 5940424"/>
              <a:gd name="connsiteX5" fmla="*/ 11520489 w 11520489"/>
              <a:gd name="connsiteY5" fmla="*/ 2066924 h 5940424"/>
              <a:gd name="connsiteX6" fmla="*/ 11520489 w 11520489"/>
              <a:gd name="connsiteY6" fmla="*/ 3578224 h 5940424"/>
              <a:gd name="connsiteX7" fmla="*/ 9344026 w 11520489"/>
              <a:gd name="connsiteY7" fmla="*/ 3578224 h 5940424"/>
              <a:gd name="connsiteX8" fmla="*/ 7097365 w 11520489"/>
              <a:gd name="connsiteY8" fmla="*/ 2066924 h 5940424"/>
              <a:gd name="connsiteX9" fmla="*/ 9273828 w 11520489"/>
              <a:gd name="connsiteY9" fmla="*/ 2066924 h 5940424"/>
              <a:gd name="connsiteX10" fmla="*/ 9273828 w 11520489"/>
              <a:gd name="connsiteY10" fmla="*/ 3578224 h 5940424"/>
              <a:gd name="connsiteX11" fmla="*/ 7097365 w 11520489"/>
              <a:gd name="connsiteY11" fmla="*/ 3578224 h 5940424"/>
              <a:gd name="connsiteX12" fmla="*/ 2604044 w 11520489"/>
              <a:gd name="connsiteY12" fmla="*/ 2066923 h 5940424"/>
              <a:gd name="connsiteX13" fmla="*/ 4780506 w 11520489"/>
              <a:gd name="connsiteY13" fmla="*/ 2066923 h 5940424"/>
              <a:gd name="connsiteX14" fmla="*/ 4780506 w 11520489"/>
              <a:gd name="connsiteY14" fmla="*/ 3578222 h 5940424"/>
              <a:gd name="connsiteX15" fmla="*/ 2604044 w 11520489"/>
              <a:gd name="connsiteY15" fmla="*/ 3578222 h 5940424"/>
              <a:gd name="connsiteX16" fmla="*/ 0 w 11520489"/>
              <a:gd name="connsiteY16" fmla="*/ 2066923 h 5940424"/>
              <a:gd name="connsiteX17" fmla="*/ 2533843 w 11520489"/>
              <a:gd name="connsiteY17" fmla="*/ 2066923 h 5940424"/>
              <a:gd name="connsiteX18" fmla="*/ 2533843 w 11520489"/>
              <a:gd name="connsiteY18" fmla="*/ 3578222 h 5940424"/>
              <a:gd name="connsiteX19" fmla="*/ 0 w 11520489"/>
              <a:gd name="connsiteY19" fmla="*/ 3578222 h 5940424"/>
              <a:gd name="connsiteX20" fmla="*/ 2604046 w 11520489"/>
              <a:gd name="connsiteY20" fmla="*/ 0 h 5940424"/>
              <a:gd name="connsiteX21" fmla="*/ 4780509 w 11520489"/>
              <a:gd name="connsiteY21" fmla="*/ 0 h 5940424"/>
              <a:gd name="connsiteX22" fmla="*/ 4780509 w 11520489"/>
              <a:gd name="connsiteY22" fmla="*/ 1987550 h 5940424"/>
              <a:gd name="connsiteX23" fmla="*/ 2604046 w 11520489"/>
              <a:gd name="connsiteY23" fmla="*/ 1987550 h 5940424"/>
              <a:gd name="connsiteX24" fmla="*/ 2 w 11520489"/>
              <a:gd name="connsiteY24" fmla="*/ 0 h 5940424"/>
              <a:gd name="connsiteX25" fmla="*/ 2533845 w 11520489"/>
              <a:gd name="connsiteY25" fmla="*/ 0 h 5940424"/>
              <a:gd name="connsiteX26" fmla="*/ 2533845 w 11520489"/>
              <a:gd name="connsiteY26" fmla="*/ 1987550 h 5940424"/>
              <a:gd name="connsiteX27" fmla="*/ 2 w 11520489"/>
              <a:gd name="connsiteY27" fmla="*/ 1987550 h 5940424"/>
              <a:gd name="connsiteX28" fmla="*/ 7097365 w 11520489"/>
              <a:gd name="connsiteY28" fmla="*/ 0 h 5940424"/>
              <a:gd name="connsiteX29" fmla="*/ 9273828 w 11520489"/>
              <a:gd name="connsiteY29" fmla="*/ 0 h 5940424"/>
              <a:gd name="connsiteX30" fmla="*/ 9273828 w 11520489"/>
              <a:gd name="connsiteY30" fmla="*/ 1987550 h 5940424"/>
              <a:gd name="connsiteX31" fmla="*/ 7097365 w 11520489"/>
              <a:gd name="connsiteY31" fmla="*/ 1987550 h 5940424"/>
              <a:gd name="connsiteX32" fmla="*/ 4850705 w 11520489"/>
              <a:gd name="connsiteY32" fmla="*/ 0 h 5940424"/>
              <a:gd name="connsiteX33" fmla="*/ 7027168 w 11520489"/>
              <a:gd name="connsiteY33" fmla="*/ 0 h 5940424"/>
              <a:gd name="connsiteX34" fmla="*/ 7027168 w 11520489"/>
              <a:gd name="connsiteY34" fmla="*/ 1987550 h 5940424"/>
              <a:gd name="connsiteX35" fmla="*/ 4850705 w 11520489"/>
              <a:gd name="connsiteY35" fmla="*/ 1987550 h 5940424"/>
              <a:gd name="connsiteX36" fmla="*/ 9344025 w 11520489"/>
              <a:gd name="connsiteY36" fmla="*/ 0 h 5940424"/>
              <a:gd name="connsiteX37" fmla="*/ 11520488 w 11520489"/>
              <a:gd name="connsiteY37" fmla="*/ 0 h 5940424"/>
              <a:gd name="connsiteX38" fmla="*/ 11520488 w 11520489"/>
              <a:gd name="connsiteY38" fmla="*/ 1987550 h 5940424"/>
              <a:gd name="connsiteX39" fmla="*/ 9344025 w 11520489"/>
              <a:gd name="connsiteY39" fmla="*/ 1987550 h 5940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520489" h="5940424">
                <a:moveTo>
                  <a:pt x="9344026" y="3657598"/>
                </a:moveTo>
                <a:lnTo>
                  <a:pt x="11520489" y="3657598"/>
                </a:lnTo>
                <a:lnTo>
                  <a:pt x="11520489" y="5940424"/>
                </a:lnTo>
                <a:lnTo>
                  <a:pt x="9344026" y="5940424"/>
                </a:lnTo>
                <a:close/>
                <a:moveTo>
                  <a:pt x="9344026" y="2066924"/>
                </a:moveTo>
                <a:lnTo>
                  <a:pt x="11520489" y="2066924"/>
                </a:lnTo>
                <a:lnTo>
                  <a:pt x="11520489" y="3578224"/>
                </a:lnTo>
                <a:lnTo>
                  <a:pt x="9344026" y="3578224"/>
                </a:lnTo>
                <a:close/>
                <a:moveTo>
                  <a:pt x="7097365" y="2066924"/>
                </a:moveTo>
                <a:lnTo>
                  <a:pt x="9273828" y="2066924"/>
                </a:lnTo>
                <a:lnTo>
                  <a:pt x="9273828" y="3578224"/>
                </a:lnTo>
                <a:lnTo>
                  <a:pt x="7097365" y="3578224"/>
                </a:lnTo>
                <a:close/>
                <a:moveTo>
                  <a:pt x="2604044" y="2066923"/>
                </a:moveTo>
                <a:lnTo>
                  <a:pt x="4780506" y="2066923"/>
                </a:lnTo>
                <a:lnTo>
                  <a:pt x="4780506" y="3578222"/>
                </a:lnTo>
                <a:lnTo>
                  <a:pt x="2604044" y="3578222"/>
                </a:lnTo>
                <a:close/>
                <a:moveTo>
                  <a:pt x="0" y="2066923"/>
                </a:moveTo>
                <a:lnTo>
                  <a:pt x="2533843" y="2066923"/>
                </a:lnTo>
                <a:lnTo>
                  <a:pt x="2533843" y="3578222"/>
                </a:lnTo>
                <a:lnTo>
                  <a:pt x="0" y="3578222"/>
                </a:lnTo>
                <a:close/>
                <a:moveTo>
                  <a:pt x="2604046" y="0"/>
                </a:moveTo>
                <a:lnTo>
                  <a:pt x="4780509" y="0"/>
                </a:lnTo>
                <a:lnTo>
                  <a:pt x="4780509" y="1987550"/>
                </a:lnTo>
                <a:lnTo>
                  <a:pt x="2604046" y="1987550"/>
                </a:lnTo>
                <a:close/>
                <a:moveTo>
                  <a:pt x="2" y="0"/>
                </a:moveTo>
                <a:lnTo>
                  <a:pt x="2533845" y="0"/>
                </a:lnTo>
                <a:lnTo>
                  <a:pt x="2533845" y="1987550"/>
                </a:lnTo>
                <a:lnTo>
                  <a:pt x="2" y="1987550"/>
                </a:lnTo>
                <a:close/>
                <a:moveTo>
                  <a:pt x="7097365" y="0"/>
                </a:moveTo>
                <a:lnTo>
                  <a:pt x="9273828" y="0"/>
                </a:lnTo>
                <a:lnTo>
                  <a:pt x="9273828" y="1987550"/>
                </a:lnTo>
                <a:lnTo>
                  <a:pt x="7097365" y="1987550"/>
                </a:lnTo>
                <a:close/>
                <a:moveTo>
                  <a:pt x="4850705" y="0"/>
                </a:moveTo>
                <a:lnTo>
                  <a:pt x="7027168" y="0"/>
                </a:lnTo>
                <a:lnTo>
                  <a:pt x="7027168" y="1987550"/>
                </a:lnTo>
                <a:lnTo>
                  <a:pt x="4850705" y="1987550"/>
                </a:lnTo>
                <a:close/>
                <a:moveTo>
                  <a:pt x="9344025" y="0"/>
                </a:moveTo>
                <a:lnTo>
                  <a:pt x="11520488" y="0"/>
                </a:lnTo>
                <a:lnTo>
                  <a:pt x="11520488" y="1987550"/>
                </a:lnTo>
                <a:lnTo>
                  <a:pt x="9344025" y="19875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t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833402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4406207"/>
            <a:ext cx="10439400" cy="1175444"/>
          </a:xfrm>
        </p:spPr>
        <p:txBody>
          <a:bodyPr anchor="ctr"/>
          <a:lstStyle>
            <a:lvl1pPr algn="ct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0" y="0"/>
            <a:ext cx="12191999" cy="28479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230D70C6-13FD-45D4-8FB6-26C56B8FF2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260350"/>
            <a:ext cx="11520488" cy="365759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0ED78A-2A17-41C4-9030-D406C56DDF4A}"/>
              </a:ext>
            </a:extLst>
          </p:cNvPr>
          <p:cNvSpPr/>
          <p:nvPr userDrawn="1"/>
        </p:nvSpPr>
        <p:spPr>
          <a:xfrm>
            <a:off x="5795961" y="3914082"/>
            <a:ext cx="600075" cy="2918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544582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A6C789F-805A-4494-8430-C63414191AC2}"/>
              </a:ext>
            </a:extLst>
          </p:cNvPr>
          <p:cNvSpPr/>
          <p:nvPr userDrawn="1"/>
        </p:nvSpPr>
        <p:spPr>
          <a:xfrm>
            <a:off x="371475" y="1526382"/>
            <a:ext cx="3595688" cy="45624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 userDrawn="1"/>
        </p:nvSpPr>
        <p:spPr>
          <a:xfrm>
            <a:off x="8224838" y="1526382"/>
            <a:ext cx="3595688" cy="4562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026" y="1724025"/>
            <a:ext cx="3143250" cy="4191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282" y="1712119"/>
            <a:ext cx="3142800" cy="4191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67163" y="1233488"/>
            <a:ext cx="4257675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6615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 userDrawn="1"/>
        </p:nvSpPr>
        <p:spPr>
          <a:xfrm>
            <a:off x="6200775" y="1233487"/>
            <a:ext cx="5619751" cy="27336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3054" y="1357414"/>
            <a:ext cx="5255193" cy="240486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5757863" cy="24156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9795E85-7B91-41BB-9DF4-A4893AA48F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0775" y="3967163"/>
            <a:ext cx="5619750" cy="24145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 userDrawn="1"/>
        </p:nvSpPr>
        <p:spPr>
          <a:xfrm>
            <a:off x="371475" y="3643799"/>
            <a:ext cx="5757863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2406" y="3848474"/>
            <a:ext cx="5256000" cy="24048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0182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11520488" cy="238136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 userDrawn="1"/>
        </p:nvSpPr>
        <p:spPr>
          <a:xfrm>
            <a:off x="371475" y="3643799"/>
            <a:ext cx="11520488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3054" y="3808206"/>
            <a:ext cx="5255193" cy="240486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2406" y="3808236"/>
            <a:ext cx="5256000" cy="24048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15E3050-1157-4448-A84E-5AC72FC84A7F}"/>
              </a:ext>
            </a:extLst>
          </p:cNvPr>
          <p:cNvCxnSpPr/>
          <p:nvPr userDrawn="1"/>
        </p:nvCxnSpPr>
        <p:spPr>
          <a:xfrm>
            <a:off x="6131719" y="3774712"/>
            <a:ext cx="0" cy="247184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3863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5DEB4D-1697-4E72-B2BF-F5EA1EF3B009}"/>
              </a:ext>
            </a:extLst>
          </p:cNvPr>
          <p:cNvSpPr/>
          <p:nvPr userDrawn="1"/>
        </p:nvSpPr>
        <p:spPr>
          <a:xfrm>
            <a:off x="7162799" y="3052634"/>
            <a:ext cx="1368533" cy="113014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334424"/>
            <a:ext cx="4448175" cy="1520824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09563" y="3118775"/>
            <a:ext cx="2927311" cy="3081999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1475" y="3118776"/>
            <a:ext cx="2926800" cy="3081922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84421AF3-217F-49BD-BF47-1140F3F445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08415" y="-4277"/>
            <a:ext cx="7283585" cy="6204974"/>
          </a:xfrm>
          <a:custGeom>
            <a:avLst/>
            <a:gdLst>
              <a:gd name="connsiteX0" fmla="*/ 4914900 w 7283585"/>
              <a:gd name="connsiteY0" fmla="*/ 4064000 h 6204974"/>
              <a:gd name="connsiteX1" fmla="*/ 7283585 w 7283585"/>
              <a:gd name="connsiteY1" fmla="*/ 4064000 h 6204974"/>
              <a:gd name="connsiteX2" fmla="*/ 7283585 w 7283585"/>
              <a:gd name="connsiteY2" fmla="*/ 6204974 h 6204974"/>
              <a:gd name="connsiteX3" fmla="*/ 4914900 w 7283585"/>
              <a:gd name="connsiteY3" fmla="*/ 6204974 h 6204974"/>
              <a:gd name="connsiteX4" fmla="*/ 4914900 w 7283585"/>
              <a:gd name="connsiteY4" fmla="*/ 2032000 h 6204974"/>
              <a:gd name="connsiteX5" fmla="*/ 7283585 w 7283585"/>
              <a:gd name="connsiteY5" fmla="*/ 2032000 h 6204974"/>
              <a:gd name="connsiteX6" fmla="*/ 7283585 w 7283585"/>
              <a:gd name="connsiteY6" fmla="*/ 3946525 h 6204974"/>
              <a:gd name="connsiteX7" fmla="*/ 4914900 w 7283585"/>
              <a:gd name="connsiteY7" fmla="*/ 3946525 h 6204974"/>
              <a:gd name="connsiteX8" fmla="*/ 2457450 w 7283585"/>
              <a:gd name="connsiteY8" fmla="*/ 2032000 h 6204974"/>
              <a:gd name="connsiteX9" fmla="*/ 4826135 w 7283585"/>
              <a:gd name="connsiteY9" fmla="*/ 2032000 h 6204974"/>
              <a:gd name="connsiteX10" fmla="*/ 4826135 w 7283585"/>
              <a:gd name="connsiteY10" fmla="*/ 3946525 h 6204974"/>
              <a:gd name="connsiteX11" fmla="*/ 2457450 w 7283585"/>
              <a:gd name="connsiteY11" fmla="*/ 3946525 h 6204974"/>
              <a:gd name="connsiteX12" fmla="*/ 0 w 7283585"/>
              <a:gd name="connsiteY12" fmla="*/ 8552 h 6204974"/>
              <a:gd name="connsiteX13" fmla="*/ 2368685 w 7283585"/>
              <a:gd name="connsiteY13" fmla="*/ 8552 h 6204974"/>
              <a:gd name="connsiteX14" fmla="*/ 2368685 w 7283585"/>
              <a:gd name="connsiteY14" fmla="*/ 1923077 h 6204974"/>
              <a:gd name="connsiteX15" fmla="*/ 0 w 7283585"/>
              <a:gd name="connsiteY15" fmla="*/ 1923077 h 6204974"/>
              <a:gd name="connsiteX16" fmla="*/ 2457450 w 7283585"/>
              <a:gd name="connsiteY16" fmla="*/ 4276 h 6204974"/>
              <a:gd name="connsiteX17" fmla="*/ 4826135 w 7283585"/>
              <a:gd name="connsiteY17" fmla="*/ 4276 h 6204974"/>
              <a:gd name="connsiteX18" fmla="*/ 4826135 w 7283585"/>
              <a:gd name="connsiteY18" fmla="*/ 1918801 h 6204974"/>
              <a:gd name="connsiteX19" fmla="*/ 2457450 w 7283585"/>
              <a:gd name="connsiteY19" fmla="*/ 1918801 h 6204974"/>
              <a:gd name="connsiteX20" fmla="*/ 4914900 w 7283585"/>
              <a:gd name="connsiteY20" fmla="*/ 0 h 6204974"/>
              <a:gd name="connsiteX21" fmla="*/ 7283585 w 7283585"/>
              <a:gd name="connsiteY21" fmla="*/ 0 h 6204974"/>
              <a:gd name="connsiteX22" fmla="*/ 7283585 w 7283585"/>
              <a:gd name="connsiteY22" fmla="*/ 1914525 h 6204974"/>
              <a:gd name="connsiteX23" fmla="*/ 4914900 w 7283585"/>
              <a:gd name="connsiteY23" fmla="*/ 1914525 h 6204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83585" h="6204974">
                <a:moveTo>
                  <a:pt x="4914900" y="4064000"/>
                </a:moveTo>
                <a:lnTo>
                  <a:pt x="7283585" y="4064000"/>
                </a:lnTo>
                <a:lnTo>
                  <a:pt x="7283585" y="6204974"/>
                </a:lnTo>
                <a:lnTo>
                  <a:pt x="4914900" y="6204974"/>
                </a:lnTo>
                <a:close/>
                <a:moveTo>
                  <a:pt x="4914900" y="2032000"/>
                </a:moveTo>
                <a:lnTo>
                  <a:pt x="7283585" y="2032000"/>
                </a:lnTo>
                <a:lnTo>
                  <a:pt x="7283585" y="3946525"/>
                </a:lnTo>
                <a:lnTo>
                  <a:pt x="4914900" y="3946525"/>
                </a:lnTo>
                <a:close/>
                <a:moveTo>
                  <a:pt x="2457450" y="2032000"/>
                </a:moveTo>
                <a:lnTo>
                  <a:pt x="4826135" y="2032000"/>
                </a:lnTo>
                <a:lnTo>
                  <a:pt x="4826135" y="3946525"/>
                </a:lnTo>
                <a:lnTo>
                  <a:pt x="2457450" y="3946525"/>
                </a:lnTo>
                <a:close/>
                <a:moveTo>
                  <a:pt x="0" y="8552"/>
                </a:moveTo>
                <a:lnTo>
                  <a:pt x="2368685" y="8552"/>
                </a:lnTo>
                <a:lnTo>
                  <a:pt x="2368685" y="1923077"/>
                </a:lnTo>
                <a:lnTo>
                  <a:pt x="0" y="1923077"/>
                </a:lnTo>
                <a:close/>
                <a:moveTo>
                  <a:pt x="2457450" y="4276"/>
                </a:moveTo>
                <a:lnTo>
                  <a:pt x="4826135" y="4276"/>
                </a:lnTo>
                <a:lnTo>
                  <a:pt x="4826135" y="1918801"/>
                </a:lnTo>
                <a:lnTo>
                  <a:pt x="2457450" y="1918801"/>
                </a:lnTo>
                <a:close/>
                <a:moveTo>
                  <a:pt x="4914900" y="0"/>
                </a:moveTo>
                <a:lnTo>
                  <a:pt x="7283585" y="0"/>
                </a:lnTo>
                <a:lnTo>
                  <a:pt x="7283585" y="1914525"/>
                </a:lnTo>
                <a:lnTo>
                  <a:pt x="4914900" y="191452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5378D9-445B-4812-AE73-9B2CF92DCDF1}"/>
              </a:ext>
            </a:extLst>
          </p:cNvPr>
          <p:cNvSpPr/>
          <p:nvPr userDrawn="1"/>
        </p:nvSpPr>
        <p:spPr>
          <a:xfrm>
            <a:off x="6210299" y="2027725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69B8CC-B741-4501-A871-F6CC58941F5C}"/>
              </a:ext>
            </a:extLst>
          </p:cNvPr>
          <p:cNvSpPr/>
          <p:nvPr userDrawn="1"/>
        </p:nvSpPr>
        <p:spPr>
          <a:xfrm>
            <a:off x="8661263" y="4055448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ED9C5BC-5F16-4DC8-BAA3-30A378B7F5FB}"/>
              </a:ext>
            </a:extLst>
          </p:cNvPr>
          <p:cNvCxnSpPr>
            <a:cxnSpLocks/>
          </p:cNvCxnSpPr>
          <p:nvPr userDrawn="1"/>
        </p:nvCxnSpPr>
        <p:spPr>
          <a:xfrm>
            <a:off x="3452019" y="3106075"/>
            <a:ext cx="0" cy="30947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2F0E9B02-FBE7-4B3F-833A-FCDE146B2DAD}"/>
              </a:ext>
            </a:extLst>
          </p:cNvPr>
          <p:cNvSpPr/>
          <p:nvPr userDrawn="1"/>
        </p:nvSpPr>
        <p:spPr>
          <a:xfrm>
            <a:off x="0" y="1405862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589608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73E3AB81-FB3C-492F-8AB9-CFC37EECCE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11520488" cy="6121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2C4CC9-6F35-4EBF-857F-EBD298D77347}"/>
              </a:ext>
            </a:extLst>
          </p:cNvPr>
          <p:cNvSpPr/>
          <p:nvPr userDrawn="1"/>
        </p:nvSpPr>
        <p:spPr>
          <a:xfrm>
            <a:off x="1578741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D54A23-014A-49B4-9E28-7641C8A4F0C1}"/>
              </a:ext>
            </a:extLst>
          </p:cNvPr>
          <p:cNvSpPr/>
          <p:nvPr userDrawn="1"/>
        </p:nvSpPr>
        <p:spPr>
          <a:xfrm>
            <a:off x="6184487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4" y="1233488"/>
            <a:ext cx="9016993" cy="761076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091" y="2424864"/>
            <a:ext cx="4132800" cy="28332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22820" y="2424864"/>
            <a:ext cx="4131850" cy="2832101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9587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3E1565-5B33-4914-9800-50B8400266FF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DE438B2E-01A6-453B-928D-97D9843816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5756" y="260350"/>
            <a:ext cx="11520488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110570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404FC023-3732-4036-B4DA-F34DC45303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12191999" cy="6857999"/>
          </a:xfrm>
          <a:custGeom>
            <a:avLst/>
            <a:gdLst>
              <a:gd name="connsiteX0" fmla="*/ 9194799 w 12191999"/>
              <a:gd name="connsiteY0" fmla="*/ 4114799 h 6108699"/>
              <a:gd name="connsiteX1" fmla="*/ 12191999 w 12191999"/>
              <a:gd name="connsiteY1" fmla="*/ 4114799 h 6108699"/>
              <a:gd name="connsiteX2" fmla="*/ 12191999 w 12191999"/>
              <a:gd name="connsiteY2" fmla="*/ 6108699 h 6108699"/>
              <a:gd name="connsiteX3" fmla="*/ 9194799 w 12191999"/>
              <a:gd name="connsiteY3" fmla="*/ 6108699 h 6108699"/>
              <a:gd name="connsiteX4" fmla="*/ 6129865 w 12191999"/>
              <a:gd name="connsiteY4" fmla="*/ 4114799 h 6108699"/>
              <a:gd name="connsiteX5" fmla="*/ 9127065 w 12191999"/>
              <a:gd name="connsiteY5" fmla="*/ 4114799 h 6108699"/>
              <a:gd name="connsiteX6" fmla="*/ 9127065 w 12191999"/>
              <a:gd name="connsiteY6" fmla="*/ 6108699 h 6108699"/>
              <a:gd name="connsiteX7" fmla="*/ 6129865 w 12191999"/>
              <a:gd name="connsiteY7" fmla="*/ 6108699 h 6108699"/>
              <a:gd name="connsiteX8" fmla="*/ 3064933 w 12191999"/>
              <a:gd name="connsiteY8" fmla="*/ 4114799 h 6108699"/>
              <a:gd name="connsiteX9" fmla="*/ 6062132 w 12191999"/>
              <a:gd name="connsiteY9" fmla="*/ 4114799 h 6108699"/>
              <a:gd name="connsiteX10" fmla="*/ 6062132 w 12191999"/>
              <a:gd name="connsiteY10" fmla="*/ 6108699 h 6108699"/>
              <a:gd name="connsiteX11" fmla="*/ 3064933 w 12191999"/>
              <a:gd name="connsiteY11" fmla="*/ 6108699 h 6108699"/>
              <a:gd name="connsiteX12" fmla="*/ 0 w 12191999"/>
              <a:gd name="connsiteY12" fmla="*/ 4114799 h 6108699"/>
              <a:gd name="connsiteX13" fmla="*/ 2997200 w 12191999"/>
              <a:gd name="connsiteY13" fmla="*/ 4114799 h 6108699"/>
              <a:gd name="connsiteX14" fmla="*/ 2997200 w 12191999"/>
              <a:gd name="connsiteY14" fmla="*/ 6108699 h 6108699"/>
              <a:gd name="connsiteX15" fmla="*/ 0 w 12191999"/>
              <a:gd name="connsiteY15" fmla="*/ 6108699 h 6108699"/>
              <a:gd name="connsiteX16" fmla="*/ 9194799 w 12191999"/>
              <a:gd name="connsiteY16" fmla="*/ 2057400 h 6108699"/>
              <a:gd name="connsiteX17" fmla="*/ 12191999 w 12191999"/>
              <a:gd name="connsiteY17" fmla="*/ 2057400 h 6108699"/>
              <a:gd name="connsiteX18" fmla="*/ 12191999 w 12191999"/>
              <a:gd name="connsiteY18" fmla="*/ 4051299 h 6108699"/>
              <a:gd name="connsiteX19" fmla="*/ 9194799 w 12191999"/>
              <a:gd name="connsiteY19" fmla="*/ 4051299 h 6108699"/>
              <a:gd name="connsiteX20" fmla="*/ 6129865 w 12191999"/>
              <a:gd name="connsiteY20" fmla="*/ 2057400 h 6108699"/>
              <a:gd name="connsiteX21" fmla="*/ 9127065 w 12191999"/>
              <a:gd name="connsiteY21" fmla="*/ 2057400 h 6108699"/>
              <a:gd name="connsiteX22" fmla="*/ 9127065 w 12191999"/>
              <a:gd name="connsiteY22" fmla="*/ 4051299 h 6108699"/>
              <a:gd name="connsiteX23" fmla="*/ 6129865 w 12191999"/>
              <a:gd name="connsiteY23" fmla="*/ 4051299 h 6108699"/>
              <a:gd name="connsiteX24" fmla="*/ 3064934 w 12191999"/>
              <a:gd name="connsiteY24" fmla="*/ 2057400 h 6108699"/>
              <a:gd name="connsiteX25" fmla="*/ 6062132 w 12191999"/>
              <a:gd name="connsiteY25" fmla="*/ 2057400 h 6108699"/>
              <a:gd name="connsiteX26" fmla="*/ 6062132 w 12191999"/>
              <a:gd name="connsiteY26" fmla="*/ 4051299 h 6108699"/>
              <a:gd name="connsiteX27" fmla="*/ 3064934 w 12191999"/>
              <a:gd name="connsiteY27" fmla="*/ 4051299 h 6108699"/>
              <a:gd name="connsiteX28" fmla="*/ 0 w 12191999"/>
              <a:gd name="connsiteY28" fmla="*/ 2057400 h 6108699"/>
              <a:gd name="connsiteX29" fmla="*/ 2997200 w 12191999"/>
              <a:gd name="connsiteY29" fmla="*/ 2057400 h 6108699"/>
              <a:gd name="connsiteX30" fmla="*/ 2997200 w 12191999"/>
              <a:gd name="connsiteY30" fmla="*/ 4051299 h 6108699"/>
              <a:gd name="connsiteX31" fmla="*/ 0 w 12191999"/>
              <a:gd name="connsiteY31" fmla="*/ 4051299 h 6108699"/>
              <a:gd name="connsiteX32" fmla="*/ 9194799 w 12191999"/>
              <a:gd name="connsiteY32" fmla="*/ 0 h 6108699"/>
              <a:gd name="connsiteX33" fmla="*/ 12191999 w 12191999"/>
              <a:gd name="connsiteY33" fmla="*/ 0 h 6108699"/>
              <a:gd name="connsiteX34" fmla="*/ 12191999 w 12191999"/>
              <a:gd name="connsiteY34" fmla="*/ 1993900 h 6108699"/>
              <a:gd name="connsiteX35" fmla="*/ 9194799 w 12191999"/>
              <a:gd name="connsiteY35" fmla="*/ 1993900 h 6108699"/>
              <a:gd name="connsiteX36" fmla="*/ 6129865 w 12191999"/>
              <a:gd name="connsiteY36" fmla="*/ 0 h 6108699"/>
              <a:gd name="connsiteX37" fmla="*/ 9127065 w 12191999"/>
              <a:gd name="connsiteY37" fmla="*/ 0 h 6108699"/>
              <a:gd name="connsiteX38" fmla="*/ 9127065 w 12191999"/>
              <a:gd name="connsiteY38" fmla="*/ 1993900 h 6108699"/>
              <a:gd name="connsiteX39" fmla="*/ 6129865 w 12191999"/>
              <a:gd name="connsiteY39" fmla="*/ 1993900 h 6108699"/>
              <a:gd name="connsiteX40" fmla="*/ 3064934 w 12191999"/>
              <a:gd name="connsiteY40" fmla="*/ 0 h 6108699"/>
              <a:gd name="connsiteX41" fmla="*/ 6062132 w 12191999"/>
              <a:gd name="connsiteY41" fmla="*/ 0 h 6108699"/>
              <a:gd name="connsiteX42" fmla="*/ 6062132 w 12191999"/>
              <a:gd name="connsiteY42" fmla="*/ 1993900 h 6108699"/>
              <a:gd name="connsiteX43" fmla="*/ 3064934 w 12191999"/>
              <a:gd name="connsiteY43" fmla="*/ 1993900 h 6108699"/>
              <a:gd name="connsiteX44" fmla="*/ 1 w 12191999"/>
              <a:gd name="connsiteY44" fmla="*/ 0 h 6108699"/>
              <a:gd name="connsiteX45" fmla="*/ 2997201 w 12191999"/>
              <a:gd name="connsiteY45" fmla="*/ 0 h 6108699"/>
              <a:gd name="connsiteX46" fmla="*/ 2997201 w 12191999"/>
              <a:gd name="connsiteY46" fmla="*/ 1993900 h 6108699"/>
              <a:gd name="connsiteX47" fmla="*/ 1 w 12191999"/>
              <a:gd name="connsiteY47" fmla="*/ 1993900 h 6108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191999" h="6108699">
                <a:moveTo>
                  <a:pt x="9194799" y="4114799"/>
                </a:moveTo>
                <a:lnTo>
                  <a:pt x="12191999" y="4114799"/>
                </a:lnTo>
                <a:lnTo>
                  <a:pt x="12191999" y="6108699"/>
                </a:lnTo>
                <a:lnTo>
                  <a:pt x="9194799" y="6108699"/>
                </a:lnTo>
                <a:close/>
                <a:moveTo>
                  <a:pt x="6129865" y="4114799"/>
                </a:moveTo>
                <a:lnTo>
                  <a:pt x="9127065" y="4114799"/>
                </a:lnTo>
                <a:lnTo>
                  <a:pt x="9127065" y="6108699"/>
                </a:lnTo>
                <a:lnTo>
                  <a:pt x="6129865" y="6108699"/>
                </a:lnTo>
                <a:close/>
                <a:moveTo>
                  <a:pt x="3064933" y="4114799"/>
                </a:moveTo>
                <a:lnTo>
                  <a:pt x="6062132" y="4114799"/>
                </a:lnTo>
                <a:lnTo>
                  <a:pt x="6062132" y="6108699"/>
                </a:lnTo>
                <a:lnTo>
                  <a:pt x="3064933" y="6108699"/>
                </a:lnTo>
                <a:close/>
                <a:moveTo>
                  <a:pt x="0" y="4114799"/>
                </a:moveTo>
                <a:lnTo>
                  <a:pt x="2997200" y="4114799"/>
                </a:lnTo>
                <a:lnTo>
                  <a:pt x="2997200" y="6108699"/>
                </a:lnTo>
                <a:lnTo>
                  <a:pt x="0" y="6108699"/>
                </a:lnTo>
                <a:close/>
                <a:moveTo>
                  <a:pt x="9194799" y="2057400"/>
                </a:moveTo>
                <a:lnTo>
                  <a:pt x="12191999" y="2057400"/>
                </a:lnTo>
                <a:lnTo>
                  <a:pt x="12191999" y="4051299"/>
                </a:lnTo>
                <a:lnTo>
                  <a:pt x="9194799" y="4051299"/>
                </a:lnTo>
                <a:close/>
                <a:moveTo>
                  <a:pt x="6129865" y="2057400"/>
                </a:moveTo>
                <a:lnTo>
                  <a:pt x="9127065" y="2057400"/>
                </a:lnTo>
                <a:lnTo>
                  <a:pt x="9127065" y="4051299"/>
                </a:lnTo>
                <a:lnTo>
                  <a:pt x="6129865" y="4051299"/>
                </a:lnTo>
                <a:close/>
                <a:moveTo>
                  <a:pt x="3064934" y="2057400"/>
                </a:moveTo>
                <a:lnTo>
                  <a:pt x="6062132" y="2057400"/>
                </a:lnTo>
                <a:lnTo>
                  <a:pt x="6062132" y="4051299"/>
                </a:lnTo>
                <a:lnTo>
                  <a:pt x="3064934" y="4051299"/>
                </a:lnTo>
                <a:close/>
                <a:moveTo>
                  <a:pt x="0" y="2057400"/>
                </a:moveTo>
                <a:lnTo>
                  <a:pt x="2997200" y="2057400"/>
                </a:lnTo>
                <a:lnTo>
                  <a:pt x="2997200" y="4051299"/>
                </a:lnTo>
                <a:lnTo>
                  <a:pt x="0" y="4051299"/>
                </a:lnTo>
                <a:close/>
                <a:moveTo>
                  <a:pt x="9194799" y="0"/>
                </a:moveTo>
                <a:lnTo>
                  <a:pt x="12191999" y="0"/>
                </a:lnTo>
                <a:lnTo>
                  <a:pt x="12191999" y="1993900"/>
                </a:lnTo>
                <a:lnTo>
                  <a:pt x="9194799" y="1993900"/>
                </a:lnTo>
                <a:close/>
                <a:moveTo>
                  <a:pt x="6129865" y="0"/>
                </a:moveTo>
                <a:lnTo>
                  <a:pt x="9127065" y="0"/>
                </a:lnTo>
                <a:lnTo>
                  <a:pt x="9127065" y="1993900"/>
                </a:lnTo>
                <a:lnTo>
                  <a:pt x="6129865" y="1993900"/>
                </a:lnTo>
                <a:close/>
                <a:moveTo>
                  <a:pt x="3064934" y="0"/>
                </a:moveTo>
                <a:lnTo>
                  <a:pt x="6062132" y="0"/>
                </a:lnTo>
                <a:lnTo>
                  <a:pt x="6062132" y="1993900"/>
                </a:lnTo>
                <a:lnTo>
                  <a:pt x="3064934" y="1993900"/>
                </a:lnTo>
                <a:close/>
                <a:moveTo>
                  <a:pt x="1" y="0"/>
                </a:moveTo>
                <a:lnTo>
                  <a:pt x="2997201" y="0"/>
                </a:lnTo>
                <a:lnTo>
                  <a:pt x="2997201" y="1993900"/>
                </a:lnTo>
                <a:lnTo>
                  <a:pt x="1" y="1993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6092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44926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D9C7DFC2-3A77-4761-A9AF-98963C5CCA0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81575" y="260350"/>
            <a:ext cx="27400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3F6FD22A-5FDA-45EC-BE49-3C0E30A397B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39076" y="260350"/>
            <a:ext cx="4052888" cy="3803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4BDA74-9644-41EB-984D-939D27B60F3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39076" y="4165600"/>
            <a:ext cx="4052888" cy="239553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4738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233488"/>
            <a:ext cx="12192001" cy="439102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8F30468-CC2E-4430-88DD-81D548B988FA}"/>
              </a:ext>
            </a:extLst>
          </p:cNvPr>
          <p:cNvGrpSpPr/>
          <p:nvPr userDrawn="1"/>
        </p:nvGrpSpPr>
        <p:grpSpPr>
          <a:xfrm>
            <a:off x="371474" y="260350"/>
            <a:ext cx="644525" cy="973138"/>
            <a:chOff x="371475" y="671713"/>
            <a:chExt cx="496540" cy="83673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6F92E0-2218-46A5-A183-84468D9B72A2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B476586-864B-4C72-91AF-8CF8796C6DE8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38B3D026-83A3-4D78-8B11-A20A6F47170C}"/>
              </a:ext>
            </a:extLst>
          </p:cNvPr>
          <p:cNvSpPr/>
          <p:nvPr userDrawn="1"/>
        </p:nvSpPr>
        <p:spPr>
          <a:xfrm>
            <a:off x="10795001" y="5642462"/>
            <a:ext cx="1397000" cy="12155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599560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71FC10-F7C3-4841-A705-B83FDE093009}"/>
              </a:ext>
            </a:extLst>
          </p:cNvPr>
          <p:cNvSpPr/>
          <p:nvPr userDrawn="1"/>
        </p:nvSpPr>
        <p:spPr>
          <a:xfrm>
            <a:off x="9398000" y="0"/>
            <a:ext cx="2793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60350"/>
            <a:ext cx="11891963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350859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2466000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 userDrawn="1"/>
        </p:nvSpPr>
        <p:spPr>
          <a:xfrm>
            <a:off x="2892285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04445" y="1330963"/>
            <a:ext cx="2986019" cy="1076636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 userDrawn="1"/>
        </p:nvSpPr>
        <p:spPr>
          <a:xfrm>
            <a:off x="2892284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04445" y="2623930"/>
            <a:ext cx="2986019" cy="344888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36B08A9-4F2C-4D72-A755-CBF0DAD5A4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51738" y="1233487"/>
            <a:ext cx="246490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 userDrawn="1"/>
        </p:nvSpPr>
        <p:spPr>
          <a:xfrm>
            <a:off x="8673131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 userDrawn="1"/>
        </p:nvSpPr>
        <p:spPr>
          <a:xfrm>
            <a:off x="8673130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86099" y="1333189"/>
            <a:ext cx="2984400" cy="1074410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86099" y="2623930"/>
            <a:ext cx="2984400" cy="344888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188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63827" y="1233488"/>
            <a:ext cx="4828135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 userDrawn="1"/>
        </p:nvSpPr>
        <p:spPr>
          <a:xfrm>
            <a:off x="371476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3636" y="1330963"/>
            <a:ext cx="2986019" cy="1076636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 userDrawn="1"/>
        </p:nvSpPr>
        <p:spPr>
          <a:xfrm>
            <a:off x="371475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3636" y="2623930"/>
            <a:ext cx="2986019" cy="344888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 userDrawn="1"/>
        </p:nvSpPr>
        <p:spPr>
          <a:xfrm>
            <a:off x="3717652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 userDrawn="1"/>
        </p:nvSpPr>
        <p:spPr>
          <a:xfrm>
            <a:off x="3717651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830620" y="1333189"/>
            <a:ext cx="2984400" cy="1074410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830620" y="2623930"/>
            <a:ext cx="2984400" cy="344888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8519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1152048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1798" y="2910543"/>
            <a:ext cx="5058000" cy="518457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1798" y="3523420"/>
            <a:ext cx="5058000" cy="218164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142" y="2910543"/>
            <a:ext cx="5058397" cy="518457"/>
          </a:xfrm>
        </p:spPr>
        <p:txBody>
          <a:bodyPr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5142" y="3523420"/>
            <a:ext cx="5058397" cy="218164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4194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0" y="0"/>
            <a:ext cx="12192000" cy="2146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1797" y="3634443"/>
            <a:ext cx="5630165" cy="518457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1797" y="4247320"/>
            <a:ext cx="5630165" cy="195345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6" y="3634443"/>
            <a:ext cx="5582064" cy="518457"/>
          </a:xfrm>
        </p:spPr>
        <p:txBody>
          <a:bodyPr anchor="ctr"/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1476" y="4247320"/>
            <a:ext cx="5582064" cy="195345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6CD8AAD-701B-4F23-AB47-6FC68078713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1593851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2B9551A7-E41A-4D0E-925B-71270CA0F33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1738" y="1593850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4248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90C1024-E4C7-44C6-ADC4-870B3D482C3F}"/>
              </a:ext>
            </a:extLst>
          </p:cNvPr>
          <p:cNvSpPr/>
          <p:nvPr userDrawn="1"/>
        </p:nvSpPr>
        <p:spPr>
          <a:xfrm>
            <a:off x="6441279" y="3761720"/>
            <a:ext cx="5446800" cy="240095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371474" y="1271588"/>
            <a:ext cx="5445125" cy="240095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10169" y="3956706"/>
            <a:ext cx="5109021" cy="518457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10169" y="4569583"/>
            <a:ext cx="5109021" cy="1412117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836" y="1462743"/>
            <a:ext cx="5108400" cy="518457"/>
          </a:xfrm>
        </p:spPr>
        <p:txBody>
          <a:bodyPr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9836" y="2075621"/>
            <a:ext cx="5108400" cy="1391480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9DFBCB44-5019-402B-BEC3-12F7F5526F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0101" y="1271588"/>
            <a:ext cx="60120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8CD826C9-080C-4638-B261-376BD8B316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1475" y="3758268"/>
            <a:ext cx="60118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4903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9837" y="2227263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661614-E5E5-43DF-A12A-7BE84E58EE3B}"/>
              </a:ext>
            </a:extLst>
          </p:cNvPr>
          <p:cNvSpPr/>
          <p:nvPr userDrawn="1"/>
        </p:nvSpPr>
        <p:spPr>
          <a:xfrm>
            <a:off x="371475" y="5271760"/>
            <a:ext cx="5572125" cy="9290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61B260-71A2-402A-A38D-FE2C484B7F99}"/>
              </a:ext>
            </a:extLst>
          </p:cNvPr>
          <p:cNvSpPr/>
          <p:nvPr userDrawn="1"/>
        </p:nvSpPr>
        <p:spPr>
          <a:xfrm>
            <a:off x="6319836" y="1233488"/>
            <a:ext cx="5572125" cy="92901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4987" y="5380667"/>
            <a:ext cx="52451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83348" y="1342395"/>
            <a:ext cx="52451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28786417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4517395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9" y="1642105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0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9F3577-4130-4F32-9302-DA8838D30560}"/>
              </a:ext>
            </a:extLst>
          </p:cNvPr>
          <p:cNvSpPr/>
          <p:nvPr userDrawn="1"/>
        </p:nvSpPr>
        <p:spPr>
          <a:xfrm>
            <a:off x="10337800" y="5122548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699" y="571500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4748" y="2429505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8698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1932303"/>
            <a:ext cx="12192000" cy="2917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699" y="1470977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4748" y="1462403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5451475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8" y="591502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Add your text here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4B4D45-80E3-42F8-B437-4182608210C3}"/>
              </a:ext>
            </a:extLst>
          </p:cNvPr>
          <p:cNvGrpSpPr/>
          <p:nvPr userDrawn="1"/>
        </p:nvGrpSpPr>
        <p:grpSpPr>
          <a:xfrm>
            <a:off x="5387974" y="422433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670E361-AF23-4722-9250-CCF26B3C5884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DE16CED-9FCD-4407-99EF-FFBE689DA9F1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A147081-5AFB-463F-B27C-7A0C4CA0573B}"/>
              </a:ext>
            </a:extLst>
          </p:cNvPr>
          <p:cNvGrpSpPr/>
          <p:nvPr userDrawn="1"/>
        </p:nvGrpSpPr>
        <p:grpSpPr>
          <a:xfrm flipH="1">
            <a:off x="6248401" y="5451475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E24567E-B0AE-4E55-A5FB-3019A9598162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918E6C0-B582-4943-9462-FE9740846585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4933882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19200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1" y="0"/>
            <a:ext cx="6019799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33037322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0"/>
            <a:ext cx="5372096" cy="6857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5618153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E2F46B-C34E-40D3-9D43-BBA43EDFC924}"/>
              </a:ext>
            </a:extLst>
          </p:cNvPr>
          <p:cNvSpPr/>
          <p:nvPr userDrawn="1"/>
        </p:nvSpPr>
        <p:spPr>
          <a:xfrm>
            <a:off x="6819906" y="-18257"/>
            <a:ext cx="5372096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0147" y="260350"/>
            <a:ext cx="5619600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3633710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 userDrawn="1"/>
        </p:nvSpPr>
        <p:spPr>
          <a:xfrm>
            <a:off x="371475" y="1233488"/>
            <a:ext cx="2776354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B5BF167-B9E6-4F02-9FA8-3CA79D552F0E}"/>
              </a:ext>
            </a:extLst>
          </p:cNvPr>
          <p:cNvSpPr/>
          <p:nvPr userDrawn="1"/>
        </p:nvSpPr>
        <p:spPr>
          <a:xfrm>
            <a:off x="3286186" y="1233488"/>
            <a:ext cx="2776354" cy="49672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8694DE-D82B-49DB-8A45-D1DD4C9BCEF1}"/>
              </a:ext>
            </a:extLst>
          </p:cNvPr>
          <p:cNvSpPr/>
          <p:nvPr userDrawn="1"/>
        </p:nvSpPr>
        <p:spPr>
          <a:xfrm>
            <a:off x="6200897" y="1233488"/>
            <a:ext cx="2776354" cy="4967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07C1370-8D38-4641-8D37-30A1218A4372}"/>
              </a:ext>
            </a:extLst>
          </p:cNvPr>
          <p:cNvSpPr/>
          <p:nvPr userDrawn="1"/>
        </p:nvSpPr>
        <p:spPr>
          <a:xfrm>
            <a:off x="9115608" y="1246188"/>
            <a:ext cx="2776354" cy="49672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E3EDDE5-9B23-44D7-8546-0B2365B42B16}"/>
              </a:ext>
            </a:extLst>
          </p:cNvPr>
          <p:cNvCxnSpPr/>
          <p:nvPr userDrawn="1"/>
        </p:nvCxnSpPr>
        <p:spPr>
          <a:xfrm>
            <a:off x="591252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9D259D5-D3C0-4B60-B2D9-9B6DFFD270D8}"/>
              </a:ext>
            </a:extLst>
          </p:cNvPr>
          <p:cNvCxnSpPr/>
          <p:nvPr userDrawn="1"/>
        </p:nvCxnSpPr>
        <p:spPr>
          <a:xfrm>
            <a:off x="3505963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710C392-9E34-4640-AC70-210A1B8C47B5}"/>
              </a:ext>
            </a:extLst>
          </p:cNvPr>
          <p:cNvCxnSpPr/>
          <p:nvPr userDrawn="1"/>
        </p:nvCxnSpPr>
        <p:spPr>
          <a:xfrm>
            <a:off x="6420674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7A92E0B-B060-48FA-A650-36894FF4B216}"/>
              </a:ext>
            </a:extLst>
          </p:cNvPr>
          <p:cNvCxnSpPr/>
          <p:nvPr userDrawn="1"/>
        </p:nvCxnSpPr>
        <p:spPr>
          <a:xfrm>
            <a:off x="9335385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D9056F2B-EAFD-4A57-BB92-D14816C84D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300" y="1739900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33">
            <a:extLst>
              <a:ext uri="{FF2B5EF4-FFF2-40B4-BE49-F238E27FC236}">
                <a16:creationId xmlns:a16="http://schemas.microsoft.com/office/drawing/2014/main" id="{E65006DE-F797-4019-BB72-F484F9FE7E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29813" y="4263232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Picture Placeholder 33">
            <a:extLst>
              <a:ext uri="{FF2B5EF4-FFF2-40B4-BE49-F238E27FC236}">
                <a16:creationId xmlns:a16="http://schemas.microsoft.com/office/drawing/2014/main" id="{0947D252-5545-4406-8764-B7712464DA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44524" y="1739900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3">
            <a:extLst>
              <a:ext uri="{FF2B5EF4-FFF2-40B4-BE49-F238E27FC236}">
                <a16:creationId xmlns:a16="http://schemas.microsoft.com/office/drawing/2014/main" id="{DD89F80C-C1D7-4F63-BAD2-F4EE1F9A162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659235" y="4263232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08BBFEC8-B6BE-4768-9284-26D98C06FF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0550" y="3949700"/>
            <a:ext cx="2336800" cy="185420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D12C79C2-427D-418B-8FFA-C27D8F2C98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05963" y="1595835"/>
            <a:ext cx="2336800" cy="1854200"/>
          </a:xfrm>
        </p:spPr>
        <p:txBody>
          <a:bodyPr anchor="b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0FD568C4-A06D-4A56-B7D6-AF338F5C329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20674" y="3949700"/>
            <a:ext cx="2336800" cy="185420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76B41443-1233-4172-B61C-7CC516D8880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35385" y="1595835"/>
            <a:ext cx="2336800" cy="1854200"/>
          </a:xfrm>
        </p:spPr>
        <p:txBody>
          <a:bodyPr anchor="b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21080789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B607F24-5B01-4964-9736-E876BC347E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6168473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 userDrawn="1"/>
        </p:nvSpPr>
        <p:spPr>
          <a:xfrm>
            <a:off x="6769101" y="0"/>
            <a:ext cx="2711082" cy="228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4232AA-36A1-4A85-8868-9D12848EB106}"/>
              </a:ext>
            </a:extLst>
          </p:cNvPr>
          <p:cNvSpPr/>
          <p:nvPr userDrawn="1"/>
        </p:nvSpPr>
        <p:spPr>
          <a:xfrm>
            <a:off x="9480918" y="2286000"/>
            <a:ext cx="2711082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045D93-056D-486E-A634-890ECB9AF9C2}"/>
              </a:ext>
            </a:extLst>
          </p:cNvPr>
          <p:cNvSpPr/>
          <p:nvPr userDrawn="1"/>
        </p:nvSpPr>
        <p:spPr>
          <a:xfrm>
            <a:off x="6769100" y="4572000"/>
            <a:ext cx="2711082" cy="228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67CD5E4-19A9-4EFD-BBF1-2B1FBC9BB9BD}"/>
              </a:ext>
            </a:extLst>
          </p:cNvPr>
          <p:cNvSpPr/>
          <p:nvPr userDrawn="1"/>
        </p:nvSpPr>
        <p:spPr>
          <a:xfrm>
            <a:off x="9480918" y="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A533582-AC3E-4F3B-9602-085EB97AD294}"/>
              </a:ext>
            </a:extLst>
          </p:cNvPr>
          <p:cNvSpPr/>
          <p:nvPr userDrawn="1"/>
        </p:nvSpPr>
        <p:spPr>
          <a:xfrm>
            <a:off x="6768364" y="2286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F0B1BD9-4AC2-4549-9001-383664C7F224}"/>
              </a:ext>
            </a:extLst>
          </p:cNvPr>
          <p:cNvSpPr/>
          <p:nvPr userDrawn="1"/>
        </p:nvSpPr>
        <p:spPr>
          <a:xfrm>
            <a:off x="9480918" y="4572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32B2DC05-AAD7-458D-B737-BE8CCA1FFA99}"/>
              </a:ext>
            </a:extLst>
          </p:cNvPr>
          <p:cNvSpPr/>
          <p:nvPr userDrawn="1"/>
        </p:nvSpPr>
        <p:spPr>
          <a:xfrm rot="5400000">
            <a:off x="9422986" y="1050373"/>
            <a:ext cx="298174" cy="185254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E423C01B-EB10-48EF-8F1C-C2A7E1923E3E}"/>
              </a:ext>
            </a:extLst>
          </p:cNvPr>
          <p:cNvSpPr/>
          <p:nvPr userDrawn="1"/>
        </p:nvSpPr>
        <p:spPr>
          <a:xfrm rot="16200000">
            <a:off x="9238100" y="3336373"/>
            <a:ext cx="298174" cy="18525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BB0D5D5D-BB46-489A-A006-03E52FDA0AB6}"/>
              </a:ext>
            </a:extLst>
          </p:cNvPr>
          <p:cNvSpPr/>
          <p:nvPr userDrawn="1"/>
        </p:nvSpPr>
        <p:spPr>
          <a:xfrm rot="5400000">
            <a:off x="9422986" y="5622373"/>
            <a:ext cx="298174" cy="185254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Picture Placeholder 33">
            <a:extLst>
              <a:ext uri="{FF2B5EF4-FFF2-40B4-BE49-F238E27FC236}">
                <a16:creationId xmlns:a16="http://schemas.microsoft.com/office/drawing/2014/main" id="{2D0DCA06-9544-45C9-BE22-EBB853AE757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133588" y="561678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33">
            <a:extLst>
              <a:ext uri="{FF2B5EF4-FFF2-40B4-BE49-F238E27FC236}">
                <a16:creationId xmlns:a16="http://schemas.microsoft.com/office/drawing/2014/main" id="{21403A13-F195-405D-B352-4B77969E35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21034" y="2847678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Picture Placeholder 33">
            <a:extLst>
              <a:ext uri="{FF2B5EF4-FFF2-40B4-BE49-F238E27FC236}">
                <a16:creationId xmlns:a16="http://schemas.microsoft.com/office/drawing/2014/main" id="{390C9BE2-4328-41D9-82FB-F6FEE7026C5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33588" y="5133678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1233488"/>
            <a:ext cx="6168473" cy="5624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1EE624A7-7FE4-44DC-B710-D995C25C9C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56242" y="215900"/>
            <a:ext cx="2336800" cy="1854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34CC27D1-7AB7-4922-81C5-41E9C01BAA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68059" y="2501900"/>
            <a:ext cx="2336800" cy="1854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03F0CFEB-33B8-47FE-BC44-44AF273543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56241" y="4787900"/>
            <a:ext cx="2336800" cy="1854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20142591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1233488"/>
            <a:ext cx="11520487" cy="304975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Picture Placeholder 33">
            <a:extLst>
              <a:ext uri="{FF2B5EF4-FFF2-40B4-BE49-F238E27FC236}">
                <a16:creationId xmlns:a16="http://schemas.microsoft.com/office/drawing/2014/main" id="{917F3183-F8DC-409E-BDAF-E3190E5CC1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66711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33">
            <a:extLst>
              <a:ext uri="{FF2B5EF4-FFF2-40B4-BE49-F238E27FC236}">
                <a16:creationId xmlns:a16="http://schemas.microsoft.com/office/drawing/2014/main" id="{8DCF90EE-8A0F-46BB-A8EC-27CB7826EB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08135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33">
            <a:extLst>
              <a:ext uri="{FF2B5EF4-FFF2-40B4-BE49-F238E27FC236}">
                <a16:creationId xmlns:a16="http://schemas.microsoft.com/office/drawing/2014/main" id="{4B6BCE84-A7A7-4701-966F-9F969C523C5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49558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33">
            <a:extLst>
              <a:ext uri="{FF2B5EF4-FFF2-40B4-BE49-F238E27FC236}">
                <a16:creationId xmlns:a16="http://schemas.microsoft.com/office/drawing/2014/main" id="{2F810615-16AA-4D3F-93BB-1074BABE123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435088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E999B4-BC91-4EF5-915C-59E58E141134}"/>
              </a:ext>
            </a:extLst>
          </p:cNvPr>
          <p:cNvSpPr/>
          <p:nvPr userDrawn="1"/>
        </p:nvSpPr>
        <p:spPr>
          <a:xfrm>
            <a:off x="979920" y="4514247"/>
            <a:ext cx="2379325" cy="1686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E3D72D1-545E-4FA9-B18F-DBE257DA9472}"/>
              </a:ext>
            </a:extLst>
          </p:cNvPr>
          <p:cNvSpPr/>
          <p:nvPr userDrawn="1"/>
        </p:nvSpPr>
        <p:spPr>
          <a:xfrm>
            <a:off x="3621344" y="4514247"/>
            <a:ext cx="2379325" cy="1686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1FF2C74-7F94-4D15-9530-4844CA0ABABA}"/>
              </a:ext>
            </a:extLst>
          </p:cNvPr>
          <p:cNvSpPr/>
          <p:nvPr userDrawn="1"/>
        </p:nvSpPr>
        <p:spPr>
          <a:xfrm>
            <a:off x="6262766" y="4514247"/>
            <a:ext cx="2379325" cy="168652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65048BF-5755-467D-94DA-799CD1A9ED70}"/>
              </a:ext>
            </a:extLst>
          </p:cNvPr>
          <p:cNvSpPr/>
          <p:nvPr userDrawn="1"/>
        </p:nvSpPr>
        <p:spPr>
          <a:xfrm>
            <a:off x="8904188" y="4514247"/>
            <a:ext cx="2379325" cy="1686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3C8488B4-AC1B-43A6-A416-3F5BC72456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465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50DB978-3832-472D-9958-42D6A712EA6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32888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7A9C8821-D3DD-40C3-83BD-38D1904057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4310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C3FC554A-BF67-40BD-BD4F-B2EA17BBDB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15732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2ECF54D-C7AE-4FFE-A9FA-ECD663CD2A09}"/>
              </a:ext>
            </a:extLst>
          </p:cNvPr>
          <p:cNvCxnSpPr>
            <a:cxnSpLocks/>
          </p:cNvCxnSpPr>
          <p:nvPr userDrawn="1"/>
        </p:nvCxnSpPr>
        <p:spPr>
          <a:xfrm>
            <a:off x="979920" y="4357837"/>
            <a:ext cx="237932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FB84BED-8481-4D23-AE06-31529215FE6C}"/>
              </a:ext>
            </a:extLst>
          </p:cNvPr>
          <p:cNvCxnSpPr>
            <a:cxnSpLocks/>
          </p:cNvCxnSpPr>
          <p:nvPr userDrawn="1"/>
        </p:nvCxnSpPr>
        <p:spPr>
          <a:xfrm>
            <a:off x="3621344" y="4357837"/>
            <a:ext cx="23793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A09D405-9228-4697-A91F-4E5A2B5B6512}"/>
              </a:ext>
            </a:extLst>
          </p:cNvPr>
          <p:cNvCxnSpPr>
            <a:cxnSpLocks/>
          </p:cNvCxnSpPr>
          <p:nvPr userDrawn="1"/>
        </p:nvCxnSpPr>
        <p:spPr>
          <a:xfrm>
            <a:off x="6262767" y="4357837"/>
            <a:ext cx="2379325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645748A-37E1-4661-B50F-D1FCAF7F3088}"/>
              </a:ext>
            </a:extLst>
          </p:cNvPr>
          <p:cNvCxnSpPr>
            <a:cxnSpLocks/>
          </p:cNvCxnSpPr>
          <p:nvPr userDrawn="1"/>
        </p:nvCxnSpPr>
        <p:spPr>
          <a:xfrm>
            <a:off x="8904191" y="4357837"/>
            <a:ext cx="237932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08721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6" y="1233488"/>
            <a:ext cx="4140890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4615257" y="1233489"/>
            <a:ext cx="2371952" cy="51482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6748F93-9B1D-4874-A164-A654BF7D6C8C}"/>
              </a:ext>
            </a:extLst>
          </p:cNvPr>
          <p:cNvGrpSpPr/>
          <p:nvPr userDrawn="1"/>
        </p:nvGrpSpPr>
        <p:grpSpPr>
          <a:xfrm>
            <a:off x="4842107" y="2462886"/>
            <a:ext cx="1918252" cy="2689468"/>
            <a:chOff x="4790661" y="2266122"/>
            <a:chExt cx="1918252" cy="285253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AEF10CE-C943-4C6B-9DBF-5A0E63CDC89B}"/>
                </a:ext>
              </a:extLst>
            </p:cNvPr>
            <p:cNvCxnSpPr/>
            <p:nvPr userDrawn="1"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428B198-0637-4F15-900F-6709BFE4BDEA}"/>
                </a:ext>
              </a:extLst>
            </p:cNvPr>
            <p:cNvCxnSpPr/>
            <p:nvPr userDrawn="1"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F29A1B0-F4AB-4243-979A-50FADE3330EA}"/>
                </a:ext>
              </a:extLst>
            </p:cNvPr>
            <p:cNvCxnSpPr/>
            <p:nvPr userDrawn="1"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894F998-0FDF-4CA2-802E-4FCFA7674171}"/>
              </a:ext>
            </a:extLst>
          </p:cNvPr>
          <p:cNvGrpSpPr/>
          <p:nvPr userDrawn="1"/>
        </p:nvGrpSpPr>
        <p:grpSpPr>
          <a:xfrm>
            <a:off x="7090100" y="2462886"/>
            <a:ext cx="4801862" cy="2689468"/>
            <a:chOff x="4790661" y="2266122"/>
            <a:chExt cx="1918252" cy="2852530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1F0C0C8-87C4-49FB-B35B-E937E9D0BEC5}"/>
                </a:ext>
              </a:extLst>
            </p:cNvPr>
            <p:cNvCxnSpPr/>
            <p:nvPr userDrawn="1"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857C5D3-7E33-4894-8AC3-0FD1BEB12F40}"/>
                </a:ext>
              </a:extLst>
            </p:cNvPr>
            <p:cNvCxnSpPr/>
            <p:nvPr userDrawn="1"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00BA9F8-92BF-42F0-BD46-D9B7E7422F75}"/>
                </a:ext>
              </a:extLst>
            </p:cNvPr>
            <p:cNvCxnSpPr/>
            <p:nvPr userDrawn="1"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66507" y="1463643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179CBA0C-6465-4209-AF3F-548A57F20CE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66507" y="2741755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99852211-6BD9-4B69-BBC9-F2181F272D2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66507" y="4069997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EF11D65-7095-41D2-9630-E2EB44552E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166507" y="5394355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27571" y="1437538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4" name="Picture Placeholder 33">
            <a:extLst>
              <a:ext uri="{FF2B5EF4-FFF2-40B4-BE49-F238E27FC236}">
                <a16:creationId xmlns:a16="http://schemas.microsoft.com/office/drawing/2014/main" id="{9A1BE0BE-1FFD-445C-B6BA-E4A602D2211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27571" y="2715650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Picture Placeholder 33">
            <a:extLst>
              <a:ext uri="{FF2B5EF4-FFF2-40B4-BE49-F238E27FC236}">
                <a16:creationId xmlns:a16="http://schemas.microsoft.com/office/drawing/2014/main" id="{B577AF17-6C7E-48B9-B267-0874B232A71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227571" y="4043892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33">
            <a:extLst>
              <a:ext uri="{FF2B5EF4-FFF2-40B4-BE49-F238E27FC236}">
                <a16:creationId xmlns:a16="http://schemas.microsoft.com/office/drawing/2014/main" id="{98A01AB1-3434-46C7-B1B3-90AFD4B1799F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227571" y="5368250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0925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371475" y="1233488"/>
            <a:ext cx="2293200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AF541B1-4F4B-40BC-BF0B-B80864399D0C}"/>
              </a:ext>
            </a:extLst>
          </p:cNvPr>
          <p:cNvSpPr/>
          <p:nvPr userDrawn="1"/>
        </p:nvSpPr>
        <p:spPr>
          <a:xfrm>
            <a:off x="371475" y="3773172"/>
            <a:ext cx="2293200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B837A4A-8DA3-4F45-9468-2C7DE5B35803}"/>
              </a:ext>
            </a:extLst>
          </p:cNvPr>
          <p:cNvSpPr/>
          <p:nvPr userDrawn="1"/>
        </p:nvSpPr>
        <p:spPr>
          <a:xfrm>
            <a:off x="6170635" y="1233487"/>
            <a:ext cx="2294237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9CA034F-F360-4CF5-B944-C16768254C5A}"/>
              </a:ext>
            </a:extLst>
          </p:cNvPr>
          <p:cNvSpPr/>
          <p:nvPr userDrawn="1"/>
        </p:nvSpPr>
        <p:spPr>
          <a:xfrm>
            <a:off x="6170635" y="3773171"/>
            <a:ext cx="2294237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473" y="1713955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A01639-D8FA-4F18-8FE5-E923F5A1BB48}"/>
              </a:ext>
            </a:extLst>
          </p:cNvPr>
          <p:cNvSpPr/>
          <p:nvPr userDrawn="1"/>
        </p:nvSpPr>
        <p:spPr>
          <a:xfrm>
            <a:off x="2730561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F02D09E-3C25-405E-BF24-A884A07C224A}"/>
              </a:ext>
            </a:extLst>
          </p:cNvPr>
          <p:cNvSpPr/>
          <p:nvPr userDrawn="1"/>
        </p:nvSpPr>
        <p:spPr>
          <a:xfrm>
            <a:off x="2730561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00245" y="1460126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33BDF68D-A417-4526-95BD-83DC0A4FA5B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00245" y="3999809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6F0F84-9668-4EA8-A3F5-3AD5AED3EFDD}"/>
              </a:ext>
            </a:extLst>
          </p:cNvPr>
          <p:cNvSpPr/>
          <p:nvPr userDrawn="1"/>
        </p:nvSpPr>
        <p:spPr>
          <a:xfrm>
            <a:off x="8549714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9CCCFCB-4EAD-47A3-8F4A-307EE022DD53}"/>
              </a:ext>
            </a:extLst>
          </p:cNvPr>
          <p:cNvSpPr/>
          <p:nvPr userDrawn="1"/>
        </p:nvSpPr>
        <p:spPr>
          <a:xfrm>
            <a:off x="8549714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058CD71F-A7E3-4F68-ADE3-4E6B1BAE312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19398" y="1460126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6EC40EC2-3775-4AF2-965D-0235107D83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19398" y="3999809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51" name="Picture Placeholder 33">
            <a:extLst>
              <a:ext uri="{FF2B5EF4-FFF2-40B4-BE49-F238E27FC236}">
                <a16:creationId xmlns:a16="http://schemas.microsoft.com/office/drawing/2014/main" id="{F196EA03-E36C-4E2A-A82F-8FA76EC2DBFC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5473" y="4253638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33">
            <a:extLst>
              <a:ext uri="{FF2B5EF4-FFF2-40B4-BE49-F238E27FC236}">
                <a16:creationId xmlns:a16="http://schemas.microsoft.com/office/drawing/2014/main" id="{9A754FAD-4B3A-4A76-9F0D-84DA72FD822B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415151" y="4253638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33">
            <a:extLst>
              <a:ext uri="{FF2B5EF4-FFF2-40B4-BE49-F238E27FC236}">
                <a16:creationId xmlns:a16="http://schemas.microsoft.com/office/drawing/2014/main" id="{7A45718F-1012-47C4-BF29-7462E5C6CB9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415151" y="1713954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7322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371474" y="1660868"/>
            <a:ext cx="2686613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D9ECBB-3A0A-409C-B1C0-C8F4C3087894}"/>
              </a:ext>
            </a:extLst>
          </p:cNvPr>
          <p:cNvSpPr/>
          <p:nvPr userDrawn="1"/>
        </p:nvSpPr>
        <p:spPr>
          <a:xfrm>
            <a:off x="3316099" y="1660868"/>
            <a:ext cx="2686613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FB4FA2C-0414-484D-95CD-C5E17E33E238}"/>
              </a:ext>
            </a:extLst>
          </p:cNvPr>
          <p:cNvSpPr/>
          <p:nvPr userDrawn="1"/>
        </p:nvSpPr>
        <p:spPr>
          <a:xfrm>
            <a:off x="6260723" y="1660868"/>
            <a:ext cx="2686613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0DE753-6478-4950-8F99-15952FCB6521}"/>
              </a:ext>
            </a:extLst>
          </p:cNvPr>
          <p:cNvSpPr/>
          <p:nvPr userDrawn="1"/>
        </p:nvSpPr>
        <p:spPr>
          <a:xfrm>
            <a:off x="9205348" y="1660868"/>
            <a:ext cx="2686613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420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12045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56669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01294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1474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1474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16099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16099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60723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60723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05350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6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05350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18847343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BB81E01-55F6-44A7-8ACB-B172EA0F9FB3}"/>
              </a:ext>
            </a:extLst>
          </p:cNvPr>
          <p:cNvSpPr/>
          <p:nvPr userDrawn="1"/>
        </p:nvSpPr>
        <p:spPr>
          <a:xfrm>
            <a:off x="467420" y="3895002"/>
            <a:ext cx="2494721" cy="2067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AD85DF7-0BE8-4B88-98A1-F5062CDAA964}"/>
              </a:ext>
            </a:extLst>
          </p:cNvPr>
          <p:cNvSpPr/>
          <p:nvPr userDrawn="1"/>
        </p:nvSpPr>
        <p:spPr>
          <a:xfrm>
            <a:off x="3412044" y="3895002"/>
            <a:ext cx="2494721" cy="20672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F69394C-95D0-4D10-A34D-A35EF27D2806}"/>
              </a:ext>
            </a:extLst>
          </p:cNvPr>
          <p:cNvSpPr/>
          <p:nvPr userDrawn="1"/>
        </p:nvSpPr>
        <p:spPr>
          <a:xfrm>
            <a:off x="6356668" y="3895002"/>
            <a:ext cx="2494721" cy="2067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6DBF753-694A-4503-A33B-73C09E8EE3A5}"/>
              </a:ext>
            </a:extLst>
          </p:cNvPr>
          <p:cNvSpPr/>
          <p:nvPr userDrawn="1"/>
        </p:nvSpPr>
        <p:spPr>
          <a:xfrm>
            <a:off x="9301294" y="3895002"/>
            <a:ext cx="2494721" cy="206723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420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12045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56669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01294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610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4610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49235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49235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93859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93859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38486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438486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56538280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900613" y="1233488"/>
            <a:ext cx="6991350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928258E-48B5-471F-BC61-B45FB2CA51BA}"/>
              </a:ext>
            </a:extLst>
          </p:cNvPr>
          <p:cNvSpPr/>
          <p:nvPr userDrawn="1"/>
        </p:nvSpPr>
        <p:spPr>
          <a:xfrm>
            <a:off x="371474" y="1233488"/>
            <a:ext cx="4419187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867FAC3-5109-4D5D-8105-FC48313396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6100" y="1450975"/>
            <a:ext cx="4065588" cy="4552950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5967963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71475" y="1233488"/>
            <a:ext cx="11520488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52979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71475" y="1233488"/>
            <a:ext cx="7450621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1D1D3DC-359F-47D3-A498-6E5DEF615B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40675" y="1233488"/>
            <a:ext cx="3951288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59300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81415" y="1233488"/>
            <a:ext cx="5512490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7" name="Chart Placeholder 3">
            <a:extLst>
              <a:ext uri="{FF2B5EF4-FFF2-40B4-BE49-F238E27FC236}">
                <a16:creationId xmlns:a16="http://schemas.microsoft.com/office/drawing/2014/main" id="{6750280A-6976-42F9-B984-8601DD1972D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379473" y="1233488"/>
            <a:ext cx="5512490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E63221D-DF23-4F80-AB42-A74C1B1CB425}"/>
              </a:ext>
            </a:extLst>
          </p:cNvPr>
          <p:cNvCxnSpPr/>
          <p:nvPr userDrawn="1"/>
        </p:nvCxnSpPr>
        <p:spPr>
          <a:xfrm>
            <a:off x="6125817" y="1233488"/>
            <a:ext cx="0" cy="49672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3957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10622" y="1362696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9" name="Chart Placeholder 3">
            <a:extLst>
              <a:ext uri="{FF2B5EF4-FFF2-40B4-BE49-F238E27FC236}">
                <a16:creationId xmlns:a16="http://schemas.microsoft.com/office/drawing/2014/main" id="{3CC4F2FB-E360-40E2-BDA5-455EB243C216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00682" y="3781218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0" name="Chart Placeholder 3">
            <a:extLst>
              <a:ext uri="{FF2B5EF4-FFF2-40B4-BE49-F238E27FC236}">
                <a16:creationId xmlns:a16="http://schemas.microsoft.com/office/drawing/2014/main" id="{6373EAFD-6648-4861-97FB-A3961B86C814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208643" y="1367561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1" name="Chart Placeholder 3">
            <a:extLst>
              <a:ext uri="{FF2B5EF4-FFF2-40B4-BE49-F238E27FC236}">
                <a16:creationId xmlns:a16="http://schemas.microsoft.com/office/drawing/2014/main" id="{CF0E102C-57E1-46ED-BE41-21C356F42BA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198703" y="3786083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844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27201" y="2337595"/>
            <a:ext cx="8737600" cy="2182811"/>
          </a:xfrm>
        </p:spPr>
        <p:txBody>
          <a:bodyPr anchor="ctr">
            <a:normAutofit/>
          </a:bodyPr>
          <a:lstStyle>
            <a:lvl1pPr algn="ctr">
              <a:defRPr sz="11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5753809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C3DD3-9184-4434-93FC-DDB3E5B53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02458-F7EC-4A75-A897-E73CF8028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D31584-D229-4F6C-BA8E-36782FDA8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2B7AE8-665C-4FF6-B292-B525984D9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31890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2ACFC-0D65-4857-AAEE-904747F38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594C5E-E06C-488C-AC82-331C53B94F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EC8C27-FA57-408C-8D6B-844D81BC8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68A18F-96D4-4F1F-BF6B-EDFACBF8D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416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060ACE-E228-45FD-83E3-FF4D1CCF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8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AF9FF-2A4E-41E6-956B-69BC625CC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4" y="1233488"/>
            <a:ext cx="11520487" cy="4943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E1F87C-C7F2-4F14-86B1-854B7B0C580E}"/>
              </a:ext>
            </a:extLst>
          </p:cNvPr>
          <p:cNvSpPr/>
          <p:nvPr userDrawn="1"/>
        </p:nvSpPr>
        <p:spPr>
          <a:xfrm>
            <a:off x="11229975" y="6512060"/>
            <a:ext cx="962025" cy="3459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D9470-E137-41DF-A5CA-C7B4B9856E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3DC2DEF-D2FE-4B45-ABA4-9F153FD1C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AB12CC-D752-4664-B92F-BAEFF0416B7E}"/>
              </a:ext>
            </a:extLst>
          </p:cNvPr>
          <p:cNvSpPr/>
          <p:nvPr userDrawn="1"/>
        </p:nvSpPr>
        <p:spPr>
          <a:xfrm>
            <a:off x="0" y="260350"/>
            <a:ext cx="300037" cy="755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583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3" r:id="rId5"/>
    <p:sldLayoutId id="2147483650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51" r:id="rId13"/>
    <p:sldLayoutId id="2147483670" r:id="rId14"/>
    <p:sldLayoutId id="2147483671" r:id="rId15"/>
    <p:sldLayoutId id="2147483672" r:id="rId16"/>
    <p:sldLayoutId id="2147483673" r:id="rId17"/>
    <p:sldLayoutId id="2147483652" r:id="rId18"/>
    <p:sldLayoutId id="2147483674" r:id="rId19"/>
    <p:sldLayoutId id="2147483675" r:id="rId20"/>
    <p:sldLayoutId id="2147483676" r:id="rId21"/>
    <p:sldLayoutId id="2147483677" r:id="rId22"/>
    <p:sldLayoutId id="2147483655" r:id="rId23"/>
    <p:sldLayoutId id="2147483678" r:id="rId24"/>
    <p:sldLayoutId id="2147483679" r:id="rId25"/>
    <p:sldLayoutId id="2147483680" r:id="rId26"/>
    <p:sldLayoutId id="2147483681" r:id="rId27"/>
    <p:sldLayoutId id="2147483653" r:id="rId28"/>
    <p:sldLayoutId id="2147483682" r:id="rId29"/>
    <p:sldLayoutId id="2147483683" r:id="rId30"/>
    <p:sldLayoutId id="2147483684" r:id="rId31"/>
    <p:sldLayoutId id="2147483685" r:id="rId32"/>
    <p:sldLayoutId id="2147483654" r:id="rId33"/>
    <p:sldLayoutId id="2147483686" r:id="rId34"/>
    <p:sldLayoutId id="2147483687" r:id="rId35"/>
    <p:sldLayoutId id="2147483689" r:id="rId36"/>
    <p:sldLayoutId id="2147483688" r:id="rId37"/>
    <p:sldLayoutId id="2147483690" r:id="rId38"/>
    <p:sldLayoutId id="2147483691" r:id="rId39"/>
    <p:sldLayoutId id="2147483692" r:id="rId40"/>
    <p:sldLayoutId id="2147483693" r:id="rId41"/>
    <p:sldLayoutId id="2147483694" r:id="rId42"/>
    <p:sldLayoutId id="2147483695" r:id="rId43"/>
    <p:sldLayoutId id="2147483696" r:id="rId44"/>
    <p:sldLayoutId id="2147483697" r:id="rId45"/>
    <p:sldLayoutId id="2147483698" r:id="rId46"/>
    <p:sldLayoutId id="2147483699" r:id="rId47"/>
    <p:sldLayoutId id="2147483700" r:id="rId48"/>
    <p:sldLayoutId id="2147483701" r:id="rId49"/>
    <p:sldLayoutId id="2147483702" r:id="rId50"/>
    <p:sldLayoutId id="2147483656" r:id="rId51"/>
    <p:sldLayoutId id="2147483657" r:id="rId5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 userDrawn="1">
          <p15:clr>
            <a:srgbClr val="F26B43"/>
          </p15:clr>
        </p15:guide>
        <p15:guide id="2" pos="234" userDrawn="1">
          <p15:clr>
            <a:srgbClr val="F26B43"/>
          </p15:clr>
        </p15:guide>
        <p15:guide id="3" orient="horz" pos="4133" userDrawn="1">
          <p15:clr>
            <a:srgbClr val="F26B43"/>
          </p15:clr>
        </p15:guide>
        <p15:guide id="4" pos="7491" userDrawn="1">
          <p15:clr>
            <a:srgbClr val="F26B43"/>
          </p15:clr>
        </p15:guide>
        <p15:guide id="5" orient="horz" pos="640" userDrawn="1">
          <p15:clr>
            <a:srgbClr val="F26B43"/>
          </p15:clr>
        </p15:guide>
        <p15:guide id="6" orient="horz" pos="777" userDrawn="1">
          <p15:clr>
            <a:srgbClr val="F26B43"/>
          </p15:clr>
        </p15:guide>
        <p15:guide id="7" orient="horz" pos="4020" userDrawn="1">
          <p15:clr>
            <a:srgbClr val="F26B43"/>
          </p15:clr>
        </p15:guide>
        <p15:guide id="8" orient="horz" pos="390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Placeholder 20" descr="Magnifying glass showing decling performance">
            <a:extLst>
              <a:ext uri="{FF2B5EF4-FFF2-40B4-BE49-F238E27FC236}">
                <a16:creationId xmlns:a16="http://schemas.microsoft.com/office/drawing/2014/main" id="{376A3D24-EA5C-635D-065F-6C9E880695F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3869" r="37400" b="-1"/>
          <a:stretch>
            <a:fillRect/>
          </a:stretch>
        </p:blipFill>
        <p:spPr>
          <a:xfrm>
            <a:off x="571500" y="10"/>
            <a:ext cx="6034088" cy="6857989"/>
          </a:xfrm>
          <a:noFill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D71C9CD-CAE8-4AC8-936D-333769D47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5625" y="1512889"/>
            <a:ext cx="4986338" cy="3262311"/>
          </a:xfrm>
        </p:spPr>
        <p:txBody>
          <a:bodyPr anchor="b">
            <a:normAutofit/>
          </a:bodyPr>
          <a:lstStyle/>
          <a:p>
            <a:r>
              <a:rPr lang="en-IN" sz="3800"/>
              <a:t>Mutual Fund</a:t>
            </a:r>
            <a:br>
              <a:rPr lang="en-IN" sz="3800"/>
            </a:br>
            <a:r>
              <a:rPr lang="en-IN" sz="3800"/>
              <a:t>Analytics Capstone Project</a:t>
            </a:r>
            <a:br>
              <a:rPr lang="en-IN" sz="3800"/>
            </a:br>
            <a:br>
              <a:rPr lang="en-IN" sz="3800"/>
            </a:br>
            <a:r>
              <a:rPr lang="en-IN" sz="3800" err="1"/>
              <a:t>Bluestock</a:t>
            </a:r>
            <a:r>
              <a:rPr lang="en-IN" sz="3800"/>
              <a:t> Fintech Capstone Program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6D24F99-E026-485A-96CD-AEC9813726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5625" y="4927600"/>
            <a:ext cx="4986338" cy="976311"/>
          </a:xfrm>
        </p:spPr>
        <p:txBody>
          <a:bodyPr>
            <a:normAutofit/>
          </a:bodyPr>
          <a:lstStyle/>
          <a:p>
            <a:r>
              <a:rPr lang="en-IN" sz="1700"/>
              <a:t>Prepared By:</a:t>
            </a:r>
            <a:br>
              <a:rPr lang="en-IN" sz="1700"/>
            </a:br>
            <a:r>
              <a:rPr lang="en-IN" sz="1700"/>
              <a:t>Bhavya Sri </a:t>
            </a:r>
            <a:r>
              <a:rPr lang="en-IN" sz="1700" err="1"/>
              <a:t>Rokkala</a:t>
            </a:r>
            <a:endParaRPr lang="en-IN" sz="1700"/>
          </a:p>
          <a:p>
            <a:r>
              <a:rPr lang="en-IN" sz="1700"/>
              <a:t>June 2026</a:t>
            </a:r>
          </a:p>
        </p:txBody>
      </p:sp>
    </p:spTree>
    <p:extLst>
      <p:ext uri="{BB962C8B-B14F-4D97-AF65-F5344CB8AC3E}">
        <p14:creationId xmlns:p14="http://schemas.microsoft.com/office/powerpoint/2010/main" val="1495496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E253D32-8B7B-47D0-BB63-402C3DB9B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7757" y="-197344"/>
            <a:ext cx="5272764" cy="1551573"/>
          </a:xfrm>
        </p:spPr>
        <p:txBody>
          <a:bodyPr/>
          <a:lstStyle/>
          <a:p>
            <a:r>
              <a:rPr lang="en-IN" sz="3600" dirty="0">
                <a:solidFill>
                  <a:schemeClr val="accent6">
                    <a:lumMod val="75000"/>
                  </a:schemeClr>
                </a:solidFill>
              </a:rPr>
              <a:t>PROBLEM STATEMENT &amp; OBJECTIVES</a:t>
            </a:r>
            <a:endParaRPr lang="en-US" sz="3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D6EB617-E017-4B26-9576-8578E9489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9198" y="1603579"/>
            <a:ext cx="5272764" cy="49783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3000" b="1" dirty="0">
                <a:solidFill>
                  <a:schemeClr val="accent3">
                    <a:lumMod val="75000"/>
                  </a:schemeClr>
                </a:solidFill>
              </a:rPr>
              <a:t>Problem Statement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• Mutual fund data is available across multiple             datasets.</a:t>
            </a:r>
            <a:br>
              <a:rPr lang="en-IN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• Investors require insights into performance, risk, and investor </a:t>
            </a:r>
            <a:r>
              <a:rPr lang="en-IN" dirty="0" err="1">
                <a:solidFill>
                  <a:schemeClr val="accent4">
                    <a:lumMod val="75000"/>
                  </a:schemeClr>
                </a:solidFill>
              </a:rPr>
              <a:t>behavior</a:t>
            </a: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.</a:t>
            </a:r>
            <a:br>
              <a:rPr lang="en-IN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• Raw data alone cannot support informed investment decisions.</a:t>
            </a:r>
          </a:p>
          <a:p>
            <a:pPr marL="0" indent="0">
              <a:lnSpc>
                <a:spcPct val="60000"/>
              </a:lnSpc>
              <a:buNone/>
            </a:pPr>
            <a:endParaRPr lang="en-IN" sz="3000" b="1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IN" sz="3000" b="1" dirty="0">
                <a:solidFill>
                  <a:schemeClr val="accent3">
                    <a:lumMod val="75000"/>
                  </a:schemeClr>
                </a:solidFill>
              </a:rPr>
              <a:t>Objectives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• Build ETL Pipeline</a:t>
            </a:r>
            <a:br>
              <a:rPr lang="en-IN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• Create SQLite Database</a:t>
            </a:r>
            <a:br>
              <a:rPr lang="en-IN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• Perform Data Analysis</a:t>
            </a:r>
            <a:br>
              <a:rPr lang="en-IN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• Calculate Performance Metrics</a:t>
            </a:r>
            <a:br>
              <a:rPr lang="en-IN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• </a:t>
            </a:r>
            <a:r>
              <a:rPr lang="en-IN" dirty="0" err="1">
                <a:solidFill>
                  <a:schemeClr val="accent4">
                    <a:lumMod val="75000"/>
                  </a:schemeClr>
                </a:solidFill>
              </a:rPr>
              <a:t>Analyze</a:t>
            </a: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 Investor </a:t>
            </a:r>
            <a:r>
              <a:rPr lang="en-IN" dirty="0" err="1">
                <a:solidFill>
                  <a:schemeClr val="accent4">
                    <a:lumMod val="75000"/>
                  </a:schemeClr>
                </a:solidFill>
              </a:rPr>
              <a:t>Behavior</a:t>
            </a:r>
            <a:br>
              <a:rPr lang="en-IN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• Compare Against Benchmarks</a:t>
            </a:r>
            <a:br>
              <a:rPr lang="en-IN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• Develop Interactive Dashboard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183CA-19AD-485E-AEC5-FC032D453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2</a:t>
            </a:fld>
            <a:endParaRPr lang="en-US" dirty="0"/>
          </a:p>
        </p:txBody>
      </p:sp>
      <p:pic>
        <p:nvPicPr>
          <p:cNvPr id="8" name="Picture Placeholder 7" descr="Businessperson on a computer">
            <a:extLst>
              <a:ext uri="{FF2B5EF4-FFF2-40B4-BE49-F238E27FC236}">
                <a16:creationId xmlns:a16="http://schemas.microsoft.com/office/drawing/2014/main" id="{2AE1D685-9FBD-4164-7118-A86ECE45C26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0969" r="2096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300311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3494C0-ABDD-4C4D-8C46-49B8F20CC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260" y="4185920"/>
            <a:ext cx="10439400" cy="518160"/>
          </a:xfrm>
        </p:spPr>
        <p:txBody>
          <a:bodyPr>
            <a:normAutofit fontScale="90000"/>
          </a:bodyPr>
          <a:lstStyle/>
          <a:p>
            <a:r>
              <a:rPr lang="en-IN" sz="4000" dirty="0"/>
              <a:t>DATA SOURCES</a:t>
            </a:r>
            <a:endParaRPr lang="en-US" sz="4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D622C3-EE4F-4FB9-94FB-550563528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3</a:t>
            </a:fld>
            <a:endParaRPr lang="en-US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2DE860BC-070C-49AE-AF30-7F05D5940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20674" y="69918"/>
            <a:ext cx="11520488" cy="3657599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1DDAE72-88D4-2B64-CB94-1A7731B8822B}"/>
              </a:ext>
            </a:extLst>
          </p:cNvPr>
          <p:cNvSpPr txBox="1"/>
          <p:nvPr/>
        </p:nvSpPr>
        <p:spPr>
          <a:xfrm rot="10800000" flipV="1">
            <a:off x="2138680" y="4818312"/>
            <a:ext cx="4048760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</a:rPr>
              <a:t>Datasets Used</a:t>
            </a:r>
          </a:p>
          <a:p>
            <a:r>
              <a:rPr lang="en-IN" sz="1600" dirty="0">
                <a:solidFill>
                  <a:schemeClr val="accent5">
                    <a:lumMod val="75000"/>
                  </a:schemeClr>
                </a:solidFill>
              </a:rPr>
              <a:t>• NAV History Data</a:t>
            </a:r>
            <a:br>
              <a:rPr lang="en-IN" sz="16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IN" sz="1600" dirty="0">
                <a:solidFill>
                  <a:schemeClr val="accent5">
                    <a:lumMod val="75000"/>
                  </a:schemeClr>
                </a:solidFill>
              </a:rPr>
              <a:t>• Investor Transactions Data</a:t>
            </a:r>
            <a:br>
              <a:rPr lang="en-IN" sz="16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IN" sz="1600" dirty="0">
                <a:solidFill>
                  <a:schemeClr val="accent5">
                    <a:lumMod val="75000"/>
                  </a:schemeClr>
                </a:solidFill>
              </a:rPr>
              <a:t>• Fund Master Data</a:t>
            </a:r>
            <a:br>
              <a:rPr lang="en-IN" sz="16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IN" sz="1600" dirty="0">
                <a:solidFill>
                  <a:schemeClr val="accent5">
                    <a:lumMod val="75000"/>
                  </a:schemeClr>
                </a:solidFill>
              </a:rPr>
              <a:t>• Benchmark Data</a:t>
            </a:r>
            <a:br>
              <a:rPr lang="en-IN" sz="16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IN" sz="1600" dirty="0">
                <a:solidFill>
                  <a:schemeClr val="accent5">
                    <a:lumMod val="75000"/>
                  </a:schemeClr>
                </a:solidFill>
              </a:rPr>
              <a:t>• SIP and AUM Data</a:t>
            </a:r>
            <a:br>
              <a:rPr lang="en-IN" sz="16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IN" sz="1600" dirty="0">
                <a:solidFill>
                  <a:schemeClr val="accent5">
                    <a:lumMod val="75000"/>
                  </a:schemeClr>
                </a:solidFill>
              </a:rPr>
              <a:t>• Portfolio Holdings Dat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AF2870-769C-4C31-9F63-5C802287A99F}"/>
              </a:ext>
            </a:extLst>
          </p:cNvPr>
          <p:cNvSpPr txBox="1"/>
          <p:nvPr/>
        </p:nvSpPr>
        <p:spPr>
          <a:xfrm>
            <a:off x="7152640" y="4818312"/>
            <a:ext cx="371856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</a:rPr>
              <a:t>Technologies Used</a:t>
            </a:r>
          </a:p>
          <a:p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• </a:t>
            </a:r>
            <a:r>
              <a:rPr lang="en-IN" sz="1600" dirty="0">
                <a:solidFill>
                  <a:schemeClr val="accent5">
                    <a:lumMod val="75000"/>
                  </a:schemeClr>
                </a:solidFill>
              </a:rPr>
              <a:t>Python</a:t>
            </a:r>
            <a:br>
              <a:rPr lang="en-IN" sz="16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IN" sz="1600" dirty="0">
                <a:solidFill>
                  <a:schemeClr val="accent5">
                    <a:lumMod val="75000"/>
                  </a:schemeClr>
                </a:solidFill>
              </a:rPr>
              <a:t>• Pandas</a:t>
            </a:r>
            <a:br>
              <a:rPr lang="en-IN" sz="16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IN" sz="1600" dirty="0">
                <a:solidFill>
                  <a:schemeClr val="accent5">
                    <a:lumMod val="75000"/>
                  </a:schemeClr>
                </a:solidFill>
              </a:rPr>
              <a:t>• SQLite</a:t>
            </a:r>
            <a:br>
              <a:rPr lang="en-IN" sz="16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IN" sz="1600" dirty="0">
                <a:solidFill>
                  <a:schemeClr val="accent5">
                    <a:lumMod val="75000"/>
                  </a:schemeClr>
                </a:solidFill>
              </a:rPr>
              <a:t>• Power BI</a:t>
            </a:r>
            <a:br>
              <a:rPr lang="en-IN" sz="16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IN" sz="1600" dirty="0">
                <a:solidFill>
                  <a:schemeClr val="accent5">
                    <a:lumMod val="75000"/>
                  </a:schemeClr>
                </a:solidFill>
              </a:rPr>
              <a:t>• Matplotlib</a:t>
            </a:r>
          </a:p>
        </p:txBody>
      </p:sp>
    </p:spTree>
    <p:extLst>
      <p:ext uri="{BB962C8B-B14F-4D97-AF65-F5344CB8AC3E}">
        <p14:creationId xmlns:p14="http://schemas.microsoft.com/office/powerpoint/2010/main" val="3462884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151932C-7145-4FBD-B81D-9ADC42401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334424"/>
            <a:ext cx="4448175" cy="1520824"/>
          </a:xfrm>
        </p:spPr>
        <p:txBody>
          <a:bodyPr anchor="b">
            <a:normAutofit/>
          </a:bodyPr>
          <a:lstStyle/>
          <a:p>
            <a:r>
              <a:rPr lang="en-IN"/>
              <a:t>PROJECT ARCHITECTURE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4AF259-0EA0-486A-A345-68549DF55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3DC2DEF-D2FE-4B45-ABA4-9F153FD1C98A}" type="slidenum">
              <a:rPr lang="en-US" sz="800" smtClean="0"/>
              <a:pPr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en-US" sz="80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7F42263-DE86-44BB-AC19-CD7982D365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09563" y="3118775"/>
            <a:ext cx="2927311" cy="3081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   Key Stages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• Data Extraction</a:t>
            </a:r>
            <a:br>
              <a:rPr lang="en-IN" dirty="0"/>
            </a:br>
            <a:r>
              <a:rPr lang="en-IN" dirty="0"/>
              <a:t>• Data Cleaning</a:t>
            </a:r>
            <a:br>
              <a:rPr lang="en-IN" dirty="0"/>
            </a:br>
            <a:r>
              <a:rPr lang="en-IN" dirty="0"/>
              <a:t>• Data Transformation</a:t>
            </a:r>
            <a:br>
              <a:rPr lang="en-IN" dirty="0"/>
            </a:br>
            <a:r>
              <a:rPr lang="en-IN" dirty="0"/>
              <a:t>• Data Analysis</a:t>
            </a:r>
            <a:br>
              <a:rPr lang="en-IN" dirty="0"/>
            </a:br>
            <a:r>
              <a:rPr lang="en-IN" dirty="0"/>
              <a:t>• Visualization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DA7B46-E592-40C7-91D7-A26B47A30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1475" y="3118776"/>
            <a:ext cx="2926800" cy="30819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/>
              <a:t>Project Workflow</a:t>
            </a:r>
          </a:p>
          <a:p>
            <a:pPr marL="0" indent="0">
              <a:buNone/>
            </a:pPr>
            <a:r>
              <a:rPr lang="en-IN" dirty="0"/>
              <a:t>Raw CSV Files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ETL Pipeline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SQLite Database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Analytics &amp; Insights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Power BI Dashboard</a:t>
            </a:r>
            <a:endParaRPr lang="en-IN"/>
          </a:p>
          <a:p>
            <a:endParaRPr lang="en-US" dirty="0"/>
          </a:p>
        </p:txBody>
      </p:sp>
      <p:pic>
        <p:nvPicPr>
          <p:cNvPr id="9" name="Picture Placeholder 8" descr="Blurred financial stock market data and graph">
            <a:extLst>
              <a:ext uri="{FF2B5EF4-FFF2-40B4-BE49-F238E27FC236}">
                <a16:creationId xmlns:a16="http://schemas.microsoft.com/office/drawing/2014/main" id="{2F3F6C1F-DFE4-87C1-9396-B3CB1E54019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10236" r="10238" b="2"/>
          <a:stretch>
            <a:fillRect/>
          </a:stretch>
        </p:blipFill>
        <p:spPr>
          <a:xfrm>
            <a:off x="4908415" y="-4277"/>
            <a:ext cx="7283585" cy="6204974"/>
          </a:xfrm>
          <a:noFill/>
        </p:spPr>
      </p:pic>
    </p:spTree>
    <p:extLst>
      <p:ext uri="{BB962C8B-B14F-4D97-AF65-F5344CB8AC3E}">
        <p14:creationId xmlns:p14="http://schemas.microsoft.com/office/powerpoint/2010/main" val="3242389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5E2FDB-3855-5FB6-B2AC-B7440DEF0D6F}"/>
              </a:ext>
            </a:extLst>
          </p:cNvPr>
          <p:cNvSpPr txBox="1"/>
          <p:nvPr/>
        </p:nvSpPr>
        <p:spPr>
          <a:xfrm>
            <a:off x="660400" y="274320"/>
            <a:ext cx="6177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accent6">
                    <a:lumMod val="75000"/>
                  </a:schemeClr>
                </a:solidFill>
              </a:rPr>
              <a:t>EDA HIGHLIGHTS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5654B-B1FD-94E1-645E-B2FDF69E6355}"/>
              </a:ext>
            </a:extLst>
          </p:cNvPr>
          <p:cNvSpPr txBox="1"/>
          <p:nvPr/>
        </p:nvSpPr>
        <p:spPr>
          <a:xfrm>
            <a:off x="782320" y="1168896"/>
            <a:ext cx="440944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02060"/>
                </a:solidFill>
              </a:rPr>
              <a:t>EDA Analysis Performed</a:t>
            </a:r>
          </a:p>
          <a:p>
            <a:endParaRPr lang="en-IN" dirty="0">
              <a:solidFill>
                <a:srgbClr val="002060"/>
              </a:solidFill>
            </a:endParaRPr>
          </a:p>
          <a:p>
            <a:r>
              <a:rPr lang="en-IN" dirty="0">
                <a:solidFill>
                  <a:srgbClr val="002060"/>
                </a:solidFill>
              </a:rPr>
              <a:t>• Age Group Distribution</a:t>
            </a:r>
            <a:br>
              <a:rPr lang="en-IN" dirty="0">
                <a:solidFill>
                  <a:srgbClr val="002060"/>
                </a:solidFill>
              </a:rPr>
            </a:br>
            <a:r>
              <a:rPr lang="en-IN" dirty="0">
                <a:solidFill>
                  <a:srgbClr val="002060"/>
                </a:solidFill>
              </a:rPr>
              <a:t>• Gender Distribution</a:t>
            </a:r>
            <a:br>
              <a:rPr lang="en-IN" dirty="0">
                <a:solidFill>
                  <a:srgbClr val="002060"/>
                </a:solidFill>
              </a:rPr>
            </a:br>
            <a:r>
              <a:rPr lang="en-IN" dirty="0">
                <a:solidFill>
                  <a:srgbClr val="002060"/>
                </a:solidFill>
              </a:rPr>
              <a:t>• Income Analysis</a:t>
            </a:r>
            <a:br>
              <a:rPr lang="en-IN" dirty="0">
                <a:solidFill>
                  <a:srgbClr val="002060"/>
                </a:solidFill>
              </a:rPr>
            </a:br>
            <a:r>
              <a:rPr lang="en-IN" dirty="0">
                <a:solidFill>
                  <a:srgbClr val="002060"/>
                </a:solidFill>
              </a:rPr>
              <a:t>• State-wise Investments</a:t>
            </a:r>
            <a:br>
              <a:rPr lang="en-IN" dirty="0">
                <a:solidFill>
                  <a:srgbClr val="002060"/>
                </a:solidFill>
              </a:rPr>
            </a:br>
            <a:r>
              <a:rPr lang="en-IN" dirty="0">
                <a:solidFill>
                  <a:srgbClr val="002060"/>
                </a:solidFill>
              </a:rPr>
              <a:t>• Transaction Type Analysis</a:t>
            </a:r>
            <a:br>
              <a:rPr lang="en-IN" dirty="0">
                <a:solidFill>
                  <a:srgbClr val="002060"/>
                </a:solidFill>
              </a:rPr>
            </a:br>
            <a:r>
              <a:rPr lang="en-IN" dirty="0">
                <a:solidFill>
                  <a:srgbClr val="002060"/>
                </a:solidFill>
              </a:rPr>
              <a:t>• City Tier Distribution</a:t>
            </a:r>
          </a:p>
          <a:p>
            <a:endParaRPr lang="en-IN" sz="3200" dirty="0">
              <a:solidFill>
                <a:srgbClr val="002060"/>
              </a:solidFill>
            </a:endParaRPr>
          </a:p>
          <a:p>
            <a:r>
              <a:rPr lang="en-IN" sz="3200" b="1" dirty="0">
                <a:solidFill>
                  <a:srgbClr val="002060"/>
                </a:solidFill>
              </a:rPr>
              <a:t>Key Insights</a:t>
            </a:r>
          </a:p>
          <a:p>
            <a:endParaRPr lang="en-IN" dirty="0">
              <a:solidFill>
                <a:srgbClr val="002060"/>
              </a:solidFill>
            </a:endParaRPr>
          </a:p>
          <a:p>
            <a:r>
              <a:rPr lang="en-IN" dirty="0">
                <a:solidFill>
                  <a:srgbClr val="002060"/>
                </a:solidFill>
              </a:rPr>
              <a:t>• Investment activity varies across age groups.</a:t>
            </a:r>
            <a:br>
              <a:rPr lang="en-IN" dirty="0">
                <a:solidFill>
                  <a:srgbClr val="002060"/>
                </a:solidFill>
              </a:rPr>
            </a:br>
            <a:r>
              <a:rPr lang="en-IN" dirty="0">
                <a:solidFill>
                  <a:srgbClr val="002060"/>
                </a:solidFill>
              </a:rPr>
              <a:t>• State-wise investment patterns show regional differences.</a:t>
            </a:r>
            <a:br>
              <a:rPr lang="en-IN" dirty="0">
                <a:solidFill>
                  <a:srgbClr val="002060"/>
                </a:solidFill>
              </a:rPr>
            </a:br>
            <a:r>
              <a:rPr lang="en-IN" dirty="0">
                <a:solidFill>
                  <a:srgbClr val="002060"/>
                </a:solidFill>
              </a:rPr>
              <a:t>• SIP transactions dominate overall activity.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D7F8AB-CAD7-881E-7B48-65F9F0B7316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403657" y="162877"/>
            <a:ext cx="5419725" cy="2722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724983-B223-4BDA-B642-DA232A340D0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512560" y="2996884"/>
            <a:ext cx="5310822" cy="369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70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EF48F30-BEB4-44C7-9F35-3BBB61CF8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INVESTOR ANALYTICS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60433D-E380-4571-991C-16B6CE7A4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6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241C871-580D-4A29-A334-0208A8E47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Key Findings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097C6D9-3930-4866-9E88-F1764888004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dirty="0">
                <a:solidFill>
                  <a:srgbClr val="002060"/>
                </a:solidFill>
              </a:rPr>
              <a:t>•</a:t>
            </a:r>
            <a:r>
              <a:rPr lang="en-IN" dirty="0"/>
              <a:t> </a:t>
            </a:r>
            <a:r>
              <a:rPr lang="en-IN" dirty="0">
                <a:solidFill>
                  <a:srgbClr val="002060"/>
                </a:solidFill>
              </a:rPr>
              <a:t>SIP investments dominate investor transactions.</a:t>
            </a:r>
            <a:br>
              <a:rPr lang="en-IN" dirty="0">
                <a:solidFill>
                  <a:srgbClr val="002060"/>
                </a:solidFill>
              </a:rPr>
            </a:br>
            <a:r>
              <a:rPr lang="en-IN" dirty="0">
                <a:solidFill>
                  <a:srgbClr val="002060"/>
                </a:solidFill>
              </a:rPr>
              <a:t>• Metro cities contribute significant investments.</a:t>
            </a:r>
            <a:br>
              <a:rPr lang="en-IN" dirty="0">
                <a:solidFill>
                  <a:srgbClr val="002060"/>
                </a:solidFill>
              </a:rPr>
            </a:br>
            <a:r>
              <a:rPr lang="en-IN" dirty="0">
                <a:solidFill>
                  <a:srgbClr val="002060"/>
                </a:solidFill>
              </a:rPr>
              <a:t>• Different age groups show different investment </a:t>
            </a:r>
            <a:r>
              <a:rPr lang="en-IN" dirty="0" err="1">
                <a:solidFill>
                  <a:srgbClr val="002060"/>
                </a:solidFill>
              </a:rPr>
              <a:t>behavior</a:t>
            </a:r>
            <a:r>
              <a:rPr lang="en-IN" dirty="0"/>
              <a:t>.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1B8DC8C-1FD7-4773-B07E-7E4432766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Investor Analysis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B253683-524F-46CF-BFCD-BFF6A7A920A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dirty="0">
                <a:solidFill>
                  <a:srgbClr val="002060"/>
                </a:solidFill>
              </a:rPr>
              <a:t>• Demographic Analysis</a:t>
            </a:r>
            <a:br>
              <a:rPr lang="en-IN" dirty="0">
                <a:solidFill>
                  <a:srgbClr val="002060"/>
                </a:solidFill>
              </a:rPr>
            </a:br>
            <a:r>
              <a:rPr lang="en-IN" dirty="0">
                <a:solidFill>
                  <a:srgbClr val="002060"/>
                </a:solidFill>
              </a:rPr>
              <a:t>• Gender Distribution</a:t>
            </a:r>
            <a:br>
              <a:rPr lang="en-IN" dirty="0">
                <a:solidFill>
                  <a:srgbClr val="002060"/>
                </a:solidFill>
              </a:rPr>
            </a:br>
            <a:r>
              <a:rPr lang="en-IN" dirty="0">
                <a:solidFill>
                  <a:srgbClr val="002060"/>
                </a:solidFill>
              </a:rPr>
              <a:t>• City Tier Analysis</a:t>
            </a:r>
            <a:br>
              <a:rPr lang="en-IN" dirty="0">
                <a:solidFill>
                  <a:srgbClr val="002060"/>
                </a:solidFill>
              </a:rPr>
            </a:br>
            <a:r>
              <a:rPr lang="en-IN" dirty="0">
                <a:solidFill>
                  <a:srgbClr val="002060"/>
                </a:solidFill>
              </a:rPr>
              <a:t>• State-wise Investments</a:t>
            </a:r>
            <a:br>
              <a:rPr lang="en-IN" dirty="0">
                <a:solidFill>
                  <a:srgbClr val="002060"/>
                </a:solidFill>
              </a:rPr>
            </a:br>
            <a:r>
              <a:rPr lang="en-IN" dirty="0">
                <a:solidFill>
                  <a:srgbClr val="002060"/>
                </a:solidFill>
              </a:rPr>
              <a:t>• SIP vs Lumpsum Analysis</a:t>
            </a:r>
            <a:endParaRPr lang="en-US" dirty="0">
              <a:solidFill>
                <a:srgbClr val="002060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027E1C5-2EB4-0B42-0BF6-8CBF92DD7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725" y="860762"/>
            <a:ext cx="4007595" cy="277368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64E1E49-8E4D-5B42-D598-6E980F58E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1280" y="860762"/>
            <a:ext cx="3435380" cy="2829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969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1768246-2496-4F97-8FCA-02252116F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>
                <a:latin typeface="+mj-lt"/>
                <a:ea typeface="+mj-ea"/>
                <a:cs typeface="+mj-cs"/>
              </a:rPr>
              <a:t>PERFORMANCE ANALYTICS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AB17F8-59B5-4C93-9884-D30446299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3DC2DEF-D2FE-4B45-ABA4-9F153FD1C98A}" type="slidenum">
              <a:rPr lang="en-US" sz="800" smtClean="0"/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en-US" sz="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D8B071-7F33-87FD-9FDD-64119D6664A5}"/>
              </a:ext>
            </a:extLst>
          </p:cNvPr>
          <p:cNvSpPr txBox="1"/>
          <p:nvPr/>
        </p:nvSpPr>
        <p:spPr>
          <a:xfrm>
            <a:off x="6261797" y="3634443"/>
            <a:ext cx="5630165" cy="518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b="1" kern="1200" dirty="0">
                <a:solidFill>
                  <a:schemeClr val="accent4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Metrics Calculated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54B940-9552-5286-C685-F4B6AB6587BE}"/>
              </a:ext>
            </a:extLst>
          </p:cNvPr>
          <p:cNvSpPr txBox="1"/>
          <p:nvPr/>
        </p:nvSpPr>
        <p:spPr>
          <a:xfrm>
            <a:off x="6261797" y="4247320"/>
            <a:ext cx="5630165" cy="19534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• Top funds achieved better risk-adjusted returns.</a:t>
            </a:r>
            <a:br>
              <a:rPr lang="en-US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• Sharpe Ratio helped identify strong performers.</a:t>
            </a:r>
            <a:br>
              <a:rPr lang="en-US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• Risk-adjusted performance varied significantly.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CD0F95-69FE-4CD4-B47D-11711D394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6" y="3634443"/>
            <a:ext cx="5582064" cy="5184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 dirty="0">
                <a:solidFill>
                  <a:schemeClr val="accent4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Key Findings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01B6E4D-6942-45C5-99A9-6B769E8902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1476" y="4247320"/>
            <a:ext cx="5582064" cy="1953455"/>
          </a:xfrm>
        </p:spPr>
        <p:txBody>
          <a:bodyPr vert="horz" lIns="91440" tIns="45720" rIns="91440" bIns="45720" rtlCol="0">
            <a:normAutofit/>
          </a:bodyPr>
          <a:lstStyle/>
          <a:p>
            <a:pPr marL="457200" lvl="1" indent="0">
              <a:buNone/>
            </a:pPr>
            <a:r>
              <a:rPr lang="en-US" sz="1800" dirty="0">
                <a:solidFill>
                  <a:schemeClr val="accent4">
                    <a:lumMod val="75000"/>
                  </a:schemeClr>
                </a:solidFill>
              </a:rPr>
              <a:t>• CAGR</a:t>
            </a:r>
            <a:br>
              <a:rPr lang="en-US" sz="18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sz="1800" dirty="0">
                <a:solidFill>
                  <a:schemeClr val="accent4">
                    <a:lumMod val="75000"/>
                  </a:schemeClr>
                </a:solidFill>
              </a:rPr>
              <a:t>• Sharpe Ratio</a:t>
            </a:r>
            <a:br>
              <a:rPr lang="en-US" sz="18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sz="1800" dirty="0">
                <a:solidFill>
                  <a:schemeClr val="accent4">
                    <a:lumMod val="75000"/>
                  </a:schemeClr>
                </a:solidFill>
              </a:rPr>
              <a:t>• Sortino Ratio</a:t>
            </a:r>
            <a:br>
              <a:rPr lang="en-US" sz="18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sz="1800" dirty="0">
                <a:solidFill>
                  <a:schemeClr val="accent4">
                    <a:lumMod val="75000"/>
                  </a:schemeClr>
                </a:solidFill>
              </a:rPr>
              <a:t>• Alpha</a:t>
            </a:r>
            <a:br>
              <a:rPr lang="en-US" sz="18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sz="1800" dirty="0">
                <a:solidFill>
                  <a:schemeClr val="accent4">
                    <a:lumMod val="75000"/>
                  </a:schemeClr>
                </a:solidFill>
              </a:rPr>
              <a:t>• Beta</a:t>
            </a:r>
            <a:br>
              <a:rPr lang="en-US" sz="18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sz="1800" dirty="0">
                <a:solidFill>
                  <a:schemeClr val="accent4">
                    <a:lumMod val="75000"/>
                  </a:schemeClr>
                </a:solidFill>
              </a:rPr>
              <a:t>• Maximum Drawdown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A8DFE6F-5F7A-F7C1-D1F2-9F3B40E2CF24}"/>
              </a:ext>
            </a:extLst>
          </p:cNvPr>
          <p:cNvPicPr/>
          <p:nvPr/>
        </p:nvPicPr>
        <p:blipFill>
          <a:blip r:embed="rId2"/>
          <a:srcRect t="5666" r="-1" b="12030"/>
          <a:stretch>
            <a:fillRect/>
          </a:stretch>
        </p:blipFill>
        <p:spPr>
          <a:xfrm>
            <a:off x="1118919" y="892125"/>
            <a:ext cx="9669242" cy="274231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63063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108060B-EC56-71A6-1167-089EA6CD9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9198" y="78331"/>
            <a:ext cx="5272764" cy="937669"/>
          </a:xfrm>
        </p:spPr>
        <p:txBody>
          <a:bodyPr/>
          <a:lstStyle/>
          <a:p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RISK ANALYTICS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264B8C-851F-41D4-7F7C-EBDA46BAA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9198" y="1722687"/>
            <a:ext cx="5272764" cy="456635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800" b="1" dirty="0">
                <a:solidFill>
                  <a:schemeClr val="accent4">
                    <a:lumMod val="75000"/>
                  </a:schemeClr>
                </a:solidFill>
              </a:rPr>
              <a:t>Advanced Analytics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• Value at Risk (</a:t>
            </a:r>
            <a:r>
              <a:rPr lang="en-IN" dirty="0" err="1">
                <a:solidFill>
                  <a:schemeClr val="accent4">
                    <a:lumMod val="75000"/>
                  </a:schemeClr>
                </a:solidFill>
              </a:rPr>
              <a:t>VaR</a:t>
            </a: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)</a:t>
            </a:r>
            <a:br>
              <a:rPr lang="en-IN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• Conditional </a:t>
            </a:r>
            <a:r>
              <a:rPr lang="en-IN" dirty="0" err="1">
                <a:solidFill>
                  <a:schemeClr val="accent4">
                    <a:lumMod val="75000"/>
                  </a:schemeClr>
                </a:solidFill>
              </a:rPr>
              <a:t>VaR</a:t>
            </a: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 (CVaR)</a:t>
            </a:r>
            <a:br>
              <a:rPr lang="en-IN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• Rolling Sharpe Ratio</a:t>
            </a:r>
            <a:br>
              <a:rPr lang="en-IN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• Volatility Analysis</a:t>
            </a:r>
          </a:p>
          <a:p>
            <a:pPr marL="0" indent="0">
              <a:buNone/>
            </a:pPr>
            <a:endParaRPr lang="en-IN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IN" sz="2800" b="1" dirty="0">
                <a:solidFill>
                  <a:schemeClr val="accent4">
                    <a:lumMod val="75000"/>
                  </a:schemeClr>
                </a:solidFill>
              </a:rPr>
              <a:t>Key Findings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• High </a:t>
            </a:r>
            <a:r>
              <a:rPr lang="en-IN" dirty="0" err="1">
                <a:solidFill>
                  <a:schemeClr val="accent4">
                    <a:lumMod val="75000"/>
                  </a:schemeClr>
                </a:solidFill>
              </a:rPr>
              <a:t>VaR</a:t>
            </a: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 indicates greater downside risk.</a:t>
            </a:r>
            <a:br>
              <a:rPr lang="en-IN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• Rolling Sharpe measures performance consistency.</a:t>
            </a:r>
            <a:br>
              <a:rPr lang="en-IN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• Volatility varies significantly across funds.</a:t>
            </a:r>
            <a:endParaRPr lang="en-IN" dirty="0"/>
          </a:p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398CFE4-7B31-219F-7B0C-BF53A0377C0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42240" y="1016000"/>
            <a:ext cx="6309995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476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B3B63362-DDBC-9464-5E76-520701893C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8665" y="4709795"/>
            <a:ext cx="4986338" cy="1606231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10000"/>
              </a:lnSpc>
            </a:pPr>
            <a:r>
              <a:rPr lang="en-IN" sz="3600" b="1" dirty="0"/>
              <a:t>Industry Overview</a:t>
            </a:r>
            <a:br>
              <a:rPr lang="en-IN" sz="2800" dirty="0"/>
            </a:br>
            <a:r>
              <a:rPr lang="en-IN" dirty="0"/>
              <a:t>• Total AUM</a:t>
            </a:r>
            <a:br>
              <a:rPr lang="en-IN" dirty="0"/>
            </a:br>
            <a:r>
              <a:rPr lang="en-IN" dirty="0"/>
              <a:t>• Total SIP Inflows</a:t>
            </a:r>
            <a:br>
              <a:rPr lang="en-IN" dirty="0"/>
            </a:br>
            <a:r>
              <a:rPr lang="en-IN" dirty="0"/>
              <a:t>• Total Folios</a:t>
            </a:r>
            <a:br>
              <a:rPr lang="en-IN" dirty="0"/>
            </a:br>
            <a:r>
              <a:rPr lang="en-IN" dirty="0"/>
              <a:t>• Industry Trends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AF084C-989A-B616-BFBE-B3C96F8CB22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40665" y="618809"/>
            <a:ext cx="5743575" cy="38211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068D2C-DC80-A308-BB0D-F7CAFE3283E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096000" y="2631440"/>
            <a:ext cx="5975349" cy="415671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22F1A6F-9B81-621E-FD95-1999A88D803A}"/>
              </a:ext>
            </a:extLst>
          </p:cNvPr>
          <p:cNvSpPr txBox="1"/>
          <p:nvPr/>
        </p:nvSpPr>
        <p:spPr>
          <a:xfrm>
            <a:off x="748665" y="-88974"/>
            <a:ext cx="94630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+mj-lt"/>
              </a:rPr>
              <a:t>DASHBOARD OVERVIEW  </a:t>
            </a:r>
            <a:r>
              <a:rPr lang="en-IN" sz="4000" dirty="0">
                <a:solidFill>
                  <a:schemeClr val="accent4">
                    <a:lumMod val="20000"/>
                    <a:lumOff val="80000"/>
                  </a:schemeClr>
                </a:solidFill>
                <a:latin typeface="+mj-lt"/>
              </a:rPr>
              <a:t>(PAGE 1 &amp; PAGE 2)</a:t>
            </a:r>
            <a:endParaRPr lang="en-IN" sz="4000" b="1" dirty="0">
              <a:solidFill>
                <a:schemeClr val="accent4">
                  <a:lumMod val="20000"/>
                  <a:lumOff val="80000"/>
                </a:schemeClr>
              </a:solidFill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9EDCEC-BA71-43E1-4BC5-0E7A9D789EDA}"/>
              </a:ext>
            </a:extLst>
          </p:cNvPr>
          <p:cNvSpPr txBox="1"/>
          <p:nvPr/>
        </p:nvSpPr>
        <p:spPr>
          <a:xfrm>
            <a:off x="7609840" y="822960"/>
            <a:ext cx="3261360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Fund Performance</a:t>
            </a:r>
          </a:p>
          <a:p>
            <a:r>
              <a:rPr lang="en-IN" sz="1900" dirty="0">
                <a:solidFill>
                  <a:schemeClr val="bg1"/>
                </a:solidFill>
              </a:rPr>
              <a:t>• Fund Comparison</a:t>
            </a:r>
            <a:br>
              <a:rPr lang="en-IN" sz="1900" dirty="0">
                <a:solidFill>
                  <a:schemeClr val="bg1"/>
                </a:solidFill>
              </a:rPr>
            </a:br>
            <a:r>
              <a:rPr lang="en-IN" sz="1900" dirty="0">
                <a:solidFill>
                  <a:schemeClr val="bg1"/>
                </a:solidFill>
              </a:rPr>
              <a:t>• Performance KPIs</a:t>
            </a:r>
            <a:br>
              <a:rPr lang="en-IN" sz="1900" dirty="0">
                <a:solidFill>
                  <a:schemeClr val="bg1"/>
                </a:solidFill>
              </a:rPr>
            </a:br>
            <a:r>
              <a:rPr lang="en-IN" sz="1900" dirty="0">
                <a:solidFill>
                  <a:schemeClr val="bg1"/>
                </a:solidFill>
              </a:rPr>
              <a:t>• Return Analysis</a:t>
            </a:r>
          </a:p>
        </p:txBody>
      </p:sp>
    </p:spTree>
    <p:extLst>
      <p:ext uri="{BB962C8B-B14F-4D97-AF65-F5344CB8AC3E}">
        <p14:creationId xmlns:p14="http://schemas.microsoft.com/office/powerpoint/2010/main" val="3283715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E9C61-CCF3-602F-A5A3-13F641E3C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3533F42-CE25-86BA-DECB-63530BA4BE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7920" y="0"/>
            <a:ext cx="11891963" cy="741680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DASHBOARD OVERVIEW (PAGE 3 &amp; PAGE 4)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32FBDF2-EC34-EB3F-39A6-EC14731F79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280160"/>
            <a:ext cx="4986338" cy="2326640"/>
          </a:xfrm>
        </p:spPr>
        <p:txBody>
          <a:bodyPr>
            <a:normAutofit/>
          </a:bodyPr>
          <a:lstStyle/>
          <a:p>
            <a:r>
              <a:rPr lang="en-IN" sz="3200" dirty="0"/>
              <a:t>Investor Insights</a:t>
            </a:r>
          </a:p>
          <a:p>
            <a:r>
              <a:rPr lang="en-IN" sz="2900" dirty="0"/>
              <a:t>• Demographic Analysis</a:t>
            </a:r>
            <a:br>
              <a:rPr lang="en-IN" sz="2900" dirty="0"/>
            </a:br>
            <a:r>
              <a:rPr lang="en-IN" sz="2900" dirty="0"/>
              <a:t>• State-wise Investments</a:t>
            </a:r>
            <a:br>
              <a:rPr lang="en-IN" sz="2900" dirty="0"/>
            </a:br>
            <a:r>
              <a:rPr lang="en-IN" sz="2900" dirty="0"/>
              <a:t>• Transaction Trends</a:t>
            </a:r>
          </a:p>
          <a:p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88E172-4644-5A77-5D80-385BEE5ED5A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5734" y="3509645"/>
            <a:ext cx="5731510" cy="32321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A6BFB5-CA43-C20E-28C0-6776DE89B90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236017" y="741680"/>
            <a:ext cx="5731510" cy="31953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2D85DD-7EAC-688D-9679-4C4DC5BD3B54}"/>
              </a:ext>
            </a:extLst>
          </p:cNvPr>
          <p:cNvSpPr txBox="1"/>
          <p:nvPr/>
        </p:nvSpPr>
        <p:spPr>
          <a:xfrm>
            <a:off x="6304758" y="4094480"/>
            <a:ext cx="5115082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Risk Analytics</a:t>
            </a:r>
          </a:p>
          <a:p>
            <a:r>
              <a:rPr lang="en-IN" sz="2800" dirty="0">
                <a:solidFill>
                  <a:schemeClr val="bg1"/>
                </a:solidFill>
              </a:rPr>
              <a:t>• Benchmark Comparison</a:t>
            </a:r>
            <a:br>
              <a:rPr lang="en-IN" sz="2800" dirty="0">
                <a:solidFill>
                  <a:schemeClr val="bg1"/>
                </a:solidFill>
              </a:rPr>
            </a:br>
            <a:r>
              <a:rPr lang="en-IN" sz="2800" dirty="0">
                <a:solidFill>
                  <a:schemeClr val="bg1"/>
                </a:solidFill>
              </a:rPr>
              <a:t>• Risk Metrics</a:t>
            </a:r>
            <a:br>
              <a:rPr lang="en-IN" sz="2800" dirty="0">
                <a:solidFill>
                  <a:schemeClr val="bg1"/>
                </a:solidFill>
              </a:rPr>
            </a:br>
            <a:r>
              <a:rPr lang="en-IN" sz="2800" dirty="0">
                <a:solidFill>
                  <a:schemeClr val="bg1"/>
                </a:solidFill>
              </a:rPr>
              <a:t>• Fund Volatility</a:t>
            </a:r>
          </a:p>
        </p:txBody>
      </p:sp>
    </p:spTree>
    <p:extLst>
      <p:ext uri="{BB962C8B-B14F-4D97-AF65-F5344CB8AC3E}">
        <p14:creationId xmlns:p14="http://schemas.microsoft.com/office/powerpoint/2010/main" val="2401827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2C00B059-8249-401E-BECD-DC838B36F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solidFill>
                  <a:schemeClr val="accent5">
                    <a:lumMod val="75000"/>
                  </a:schemeClr>
                </a:solidFill>
              </a:rPr>
              <a:t>KEY FINDINGS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1E71C2-3FC1-41C1-8255-33A1AC802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11</a:t>
            </a:fld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D42596E-DB09-43F7-A053-18CEB2DDE6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000" dirty="0"/>
              <a:t>• Top-performing funds achieved higher Sharpe Ratios.</a:t>
            </a:r>
            <a:br>
              <a:rPr lang="en-IN" sz="2000" dirty="0"/>
            </a:br>
            <a:r>
              <a:rPr lang="en-IN" sz="2000" dirty="0"/>
              <a:t>• SIP investments dominated investor activity.</a:t>
            </a:r>
            <a:br>
              <a:rPr lang="en-IN" sz="2000" dirty="0"/>
            </a:br>
            <a:r>
              <a:rPr lang="en-IN" sz="2000" dirty="0"/>
              <a:t>• Benchmark tracking varied across funds.</a:t>
            </a:r>
            <a:br>
              <a:rPr lang="en-IN" sz="2000" dirty="0"/>
            </a:br>
            <a:r>
              <a:rPr lang="en-IN" sz="2000" dirty="0"/>
              <a:t>• High volatility did not always generate higher returns.</a:t>
            </a:r>
            <a:br>
              <a:rPr lang="en-IN" sz="2000" dirty="0"/>
            </a:br>
            <a:r>
              <a:rPr lang="en-IN" sz="2000" dirty="0"/>
              <a:t>• Risk-adjusted metrics improved fund evaluation.</a:t>
            </a:r>
            <a:br>
              <a:rPr lang="en-IN" sz="2000" dirty="0"/>
            </a:br>
            <a:r>
              <a:rPr lang="en-IN" sz="2000" dirty="0"/>
              <a:t>• Investor </a:t>
            </a:r>
            <a:r>
              <a:rPr lang="en-IN" sz="2000" dirty="0" err="1"/>
              <a:t>behavior</a:t>
            </a:r>
            <a:r>
              <a:rPr lang="en-IN" sz="2000" dirty="0"/>
              <a:t> differed across age groups and regions.</a:t>
            </a:r>
            <a:endParaRPr lang="en-US" sz="2000" dirty="0"/>
          </a:p>
        </p:txBody>
      </p:sp>
      <p:pic>
        <p:nvPicPr>
          <p:cNvPr id="7" name="Picture 6" descr="What Is Active Share">
            <a:extLst>
              <a:ext uri="{FF2B5EF4-FFF2-40B4-BE49-F238E27FC236}">
                <a16:creationId xmlns:a16="http://schemas.microsoft.com/office/drawing/2014/main" id="{269C6FE8-DACE-AC61-3FA3-61BAE6EA4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2611" y="932815"/>
            <a:ext cx="7059389" cy="5437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026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1BD1170C-98A5-D1A8-3553-1E243542558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14678" b="146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prstClr val="white">
              <a:lumMod val="95000"/>
            </a:prstClr>
          </a:solidFill>
        </p:spPr>
      </p:pic>
    </p:spTree>
    <p:extLst>
      <p:ext uri="{BB962C8B-B14F-4D97-AF65-F5344CB8AC3E}">
        <p14:creationId xmlns:p14="http://schemas.microsoft.com/office/powerpoint/2010/main" val="3684223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SFT_Color_1">
      <a:dk1>
        <a:srgbClr val="32363F"/>
      </a:dk1>
      <a:lt1>
        <a:sysClr val="window" lastClr="FFFFFF"/>
      </a:lt1>
      <a:dk2>
        <a:srgbClr val="313C41"/>
      </a:dk2>
      <a:lt2>
        <a:srgbClr val="FFFFFF"/>
      </a:lt2>
      <a:accent1>
        <a:srgbClr val="2C85AE"/>
      </a:accent1>
      <a:accent2>
        <a:srgbClr val="5E5CA2"/>
      </a:accent2>
      <a:accent3>
        <a:srgbClr val="5268A5"/>
      </a:accent3>
      <a:accent4>
        <a:srgbClr val="4276AA"/>
      </a:accent4>
      <a:accent5>
        <a:srgbClr val="1891AB"/>
      </a:accent5>
      <a:accent6>
        <a:srgbClr val="00A09D"/>
      </a:accent6>
      <a:hlink>
        <a:srgbClr val="2C85AE"/>
      </a:hlink>
      <a:folHlink>
        <a:srgbClr val="00A09D"/>
      </a:folHlink>
    </a:clrScheme>
    <a:fontScheme name="MSFT_Font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 title goes here" id="{A4715F0E-2373-46DF-8650-9CD6D2E73FF4}" vid="{7AE24D49-249C-4823-B15D-D301F3E6335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Classic bold block presentation</Template>
  <TotalTime>114</TotalTime>
  <Words>549</Words>
  <Application>Microsoft Office PowerPoint</Application>
  <PresentationFormat>Widescreen</PresentationFormat>
  <Paragraphs>61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Mutual Fund Analytics Capstone Project  Bluestock Fintech Capstone Program</vt:lpstr>
      <vt:lpstr>PROBLEM STATEMENT &amp; OBJECTIVES</vt:lpstr>
      <vt:lpstr>DATA SOURCES</vt:lpstr>
      <vt:lpstr>PROJECT ARCHITECTURE</vt:lpstr>
      <vt:lpstr>PowerPoint Presentation</vt:lpstr>
      <vt:lpstr>INVESTOR ANALYTICS</vt:lpstr>
      <vt:lpstr>PERFORMANCE ANALYTICS</vt:lpstr>
      <vt:lpstr>RISK ANALYTICS</vt:lpstr>
      <vt:lpstr>PowerPoint Presentation</vt:lpstr>
      <vt:lpstr>DASHBOARD OVERVIEW (PAGE 3 &amp; PAGE 4)</vt:lpstr>
      <vt:lpstr>KEY FINDINGS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Bhavya Sri</dc:creator>
  <cp:lastModifiedBy>Bhavya Sri</cp:lastModifiedBy>
  <cp:revision>1</cp:revision>
  <dcterms:created xsi:type="dcterms:W3CDTF">2026-06-11T08:35:34Z</dcterms:created>
  <dcterms:modified xsi:type="dcterms:W3CDTF">2026-06-11T10:29:40Z</dcterms:modified>
</cp:coreProperties>
</file>